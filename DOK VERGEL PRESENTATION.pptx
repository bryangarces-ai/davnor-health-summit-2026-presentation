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he Seasons Bold" charset="1" panose="00000000000000000000"/>
      <p:regular r:id="rId22"/>
    </p:embeddedFont>
    <p:embeddedFont>
      <p:font typeface="Glacial Indifference Bold" charset="1" panose="00000800000000000000"/>
      <p:regular r:id="rId23"/>
    </p:embeddedFont>
    <p:embeddedFont>
      <p:font typeface="Bree Serif" charset="1" panose="0200050304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3.png" Type="http://schemas.openxmlformats.org/officeDocument/2006/relationships/image"/><Relationship Id="rId7" Target="../media/image8.png" Type="http://schemas.openxmlformats.org/officeDocument/2006/relationships/image"/><Relationship Id="rId8" Target="../media/image10.png" Type="http://schemas.openxmlformats.org/officeDocument/2006/relationships/image"/><Relationship Id="rId9"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 Id="rId7" Target="../media/image4.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918573">
            <a:off x="2590475" y="-2928381"/>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9943989">
            <a:off x="13658404" y="-1296598"/>
            <a:ext cx="3813055" cy="5810369"/>
          </a:xfrm>
          <a:custGeom>
            <a:avLst/>
            <a:gdLst/>
            <a:ahLst/>
            <a:cxnLst/>
            <a:rect r="r" b="b" t="t" l="l"/>
            <a:pathLst>
              <a:path h="5810369" w="3813055">
                <a:moveTo>
                  <a:pt x="0" y="0"/>
                </a:moveTo>
                <a:lnTo>
                  <a:pt x="3813055" y="0"/>
                </a:lnTo>
                <a:lnTo>
                  <a:pt x="3813055" y="5810369"/>
                </a:lnTo>
                <a:lnTo>
                  <a:pt x="0" y="5810369"/>
                </a:lnTo>
                <a:lnTo>
                  <a:pt x="0" y="0"/>
                </a:lnTo>
                <a:close/>
              </a:path>
            </a:pathLst>
          </a:custGeom>
          <a:blipFill>
            <a:blip r:embed="rId3"/>
            <a:stretch>
              <a:fillRect l="0" t="0" r="0" b="0"/>
            </a:stretch>
          </a:blipFill>
        </p:spPr>
      </p:sp>
      <p:sp>
        <p:nvSpPr>
          <p:cNvPr name="Freeform 4" id="4"/>
          <p:cNvSpPr/>
          <p:nvPr/>
        </p:nvSpPr>
        <p:spPr>
          <a:xfrm flipH="true" flipV="false" rot="-6516034">
            <a:off x="13848666" y="-1634602"/>
            <a:ext cx="2201983" cy="3797766"/>
          </a:xfrm>
          <a:custGeom>
            <a:avLst/>
            <a:gdLst/>
            <a:ahLst/>
            <a:cxnLst/>
            <a:rect r="r" b="b" t="t" l="l"/>
            <a:pathLst>
              <a:path h="3797766" w="2201983">
                <a:moveTo>
                  <a:pt x="2201983" y="0"/>
                </a:moveTo>
                <a:lnTo>
                  <a:pt x="0" y="0"/>
                </a:lnTo>
                <a:lnTo>
                  <a:pt x="0" y="3797766"/>
                </a:lnTo>
                <a:lnTo>
                  <a:pt x="2201983" y="3797766"/>
                </a:lnTo>
                <a:lnTo>
                  <a:pt x="2201983" y="0"/>
                </a:lnTo>
                <a:close/>
              </a:path>
            </a:pathLst>
          </a:custGeom>
          <a:blipFill>
            <a:blip r:embed="rId4"/>
            <a:stretch>
              <a:fillRect l="0" t="0" r="0" b="0"/>
            </a:stretch>
          </a:blipFill>
        </p:spPr>
      </p:sp>
      <p:sp>
        <p:nvSpPr>
          <p:cNvPr name="Freeform 5" id="5"/>
          <p:cNvSpPr/>
          <p:nvPr/>
        </p:nvSpPr>
        <p:spPr>
          <a:xfrm flipH="true" flipV="false" rot="-8235999">
            <a:off x="16911998" y="1287004"/>
            <a:ext cx="1614403" cy="4031807"/>
          </a:xfrm>
          <a:custGeom>
            <a:avLst/>
            <a:gdLst/>
            <a:ahLst/>
            <a:cxnLst/>
            <a:rect r="r" b="b" t="t" l="l"/>
            <a:pathLst>
              <a:path h="4031807" w="1614403">
                <a:moveTo>
                  <a:pt x="1614402" y="0"/>
                </a:moveTo>
                <a:lnTo>
                  <a:pt x="0" y="0"/>
                </a:lnTo>
                <a:lnTo>
                  <a:pt x="0" y="4031807"/>
                </a:lnTo>
                <a:lnTo>
                  <a:pt x="1614402" y="4031807"/>
                </a:lnTo>
                <a:lnTo>
                  <a:pt x="1614402" y="0"/>
                </a:lnTo>
                <a:close/>
              </a:path>
            </a:pathLst>
          </a:custGeom>
          <a:blipFill>
            <a:blip r:embed="rId5"/>
            <a:stretch>
              <a:fillRect l="0" t="0" r="0" b="0"/>
            </a:stretch>
          </a:blipFill>
        </p:spPr>
      </p:sp>
      <p:sp>
        <p:nvSpPr>
          <p:cNvPr name="Freeform 6" id="6"/>
          <p:cNvSpPr/>
          <p:nvPr/>
        </p:nvSpPr>
        <p:spPr>
          <a:xfrm flipH="false" flipV="false" rot="1651197">
            <a:off x="714699" y="4346444"/>
            <a:ext cx="2235286" cy="4693514"/>
          </a:xfrm>
          <a:custGeom>
            <a:avLst/>
            <a:gdLst/>
            <a:ahLst/>
            <a:cxnLst/>
            <a:rect r="r" b="b" t="t" l="l"/>
            <a:pathLst>
              <a:path h="4693514" w="2235286">
                <a:moveTo>
                  <a:pt x="0" y="0"/>
                </a:moveTo>
                <a:lnTo>
                  <a:pt x="2235286" y="0"/>
                </a:lnTo>
                <a:lnTo>
                  <a:pt x="2235286" y="4693514"/>
                </a:lnTo>
                <a:lnTo>
                  <a:pt x="0" y="4693514"/>
                </a:lnTo>
                <a:lnTo>
                  <a:pt x="0" y="0"/>
                </a:lnTo>
                <a:close/>
              </a:path>
            </a:pathLst>
          </a:custGeom>
          <a:blipFill>
            <a:blip r:embed="rId6"/>
            <a:stretch>
              <a:fillRect l="0" t="0" r="0" b="0"/>
            </a:stretch>
          </a:blipFill>
        </p:spPr>
      </p:sp>
      <p:sp>
        <p:nvSpPr>
          <p:cNvPr name="Freeform 7" id="7"/>
          <p:cNvSpPr/>
          <p:nvPr/>
        </p:nvSpPr>
        <p:spPr>
          <a:xfrm flipH="true" flipV="false" rot="3907493">
            <a:off x="1238294" y="8109996"/>
            <a:ext cx="2359694" cy="4069769"/>
          </a:xfrm>
          <a:custGeom>
            <a:avLst/>
            <a:gdLst/>
            <a:ahLst/>
            <a:cxnLst/>
            <a:rect r="r" b="b" t="t" l="l"/>
            <a:pathLst>
              <a:path h="4069769" w="2359694">
                <a:moveTo>
                  <a:pt x="2359694" y="0"/>
                </a:moveTo>
                <a:lnTo>
                  <a:pt x="0" y="0"/>
                </a:lnTo>
                <a:lnTo>
                  <a:pt x="0" y="4069769"/>
                </a:lnTo>
                <a:lnTo>
                  <a:pt x="2359694" y="4069769"/>
                </a:lnTo>
                <a:lnTo>
                  <a:pt x="2359694" y="0"/>
                </a:lnTo>
                <a:close/>
              </a:path>
            </a:pathLst>
          </a:custGeom>
          <a:blipFill>
            <a:blip r:embed="rId4"/>
            <a:stretch>
              <a:fillRect l="0" t="0" r="0" b="0"/>
            </a:stretch>
          </a:blipFill>
        </p:spPr>
      </p:sp>
      <p:sp>
        <p:nvSpPr>
          <p:cNvPr name="Freeform 8" id="8"/>
          <p:cNvSpPr/>
          <p:nvPr/>
        </p:nvSpPr>
        <p:spPr>
          <a:xfrm flipH="false" flipV="false" rot="3151664">
            <a:off x="2207846" y="7320820"/>
            <a:ext cx="1269637" cy="1159234"/>
          </a:xfrm>
          <a:custGeom>
            <a:avLst/>
            <a:gdLst/>
            <a:ahLst/>
            <a:cxnLst/>
            <a:rect r="r" b="b" t="t" l="l"/>
            <a:pathLst>
              <a:path h="1159234" w="1269637">
                <a:moveTo>
                  <a:pt x="0" y="0"/>
                </a:moveTo>
                <a:lnTo>
                  <a:pt x="1269637" y="0"/>
                </a:lnTo>
                <a:lnTo>
                  <a:pt x="1269637" y="1159234"/>
                </a:lnTo>
                <a:lnTo>
                  <a:pt x="0" y="1159234"/>
                </a:lnTo>
                <a:lnTo>
                  <a:pt x="0" y="0"/>
                </a:lnTo>
                <a:close/>
              </a:path>
            </a:pathLst>
          </a:custGeom>
          <a:blipFill>
            <a:blip r:embed="rId7"/>
            <a:stretch>
              <a:fillRect l="0" t="0" r="0" b="0"/>
            </a:stretch>
          </a:blipFill>
        </p:spPr>
      </p:sp>
      <p:sp>
        <p:nvSpPr>
          <p:cNvPr name="Freeform 9" id="9"/>
          <p:cNvSpPr/>
          <p:nvPr/>
        </p:nvSpPr>
        <p:spPr>
          <a:xfrm flipH="false" flipV="false" rot="-654346">
            <a:off x="11495286" y="2934153"/>
            <a:ext cx="807749" cy="737510"/>
          </a:xfrm>
          <a:custGeom>
            <a:avLst/>
            <a:gdLst/>
            <a:ahLst/>
            <a:cxnLst/>
            <a:rect r="r" b="b" t="t" l="l"/>
            <a:pathLst>
              <a:path h="737510" w="807749">
                <a:moveTo>
                  <a:pt x="0" y="0"/>
                </a:moveTo>
                <a:lnTo>
                  <a:pt x="807749" y="0"/>
                </a:lnTo>
                <a:lnTo>
                  <a:pt x="807749" y="737509"/>
                </a:lnTo>
                <a:lnTo>
                  <a:pt x="0" y="737509"/>
                </a:lnTo>
                <a:lnTo>
                  <a:pt x="0" y="0"/>
                </a:lnTo>
                <a:close/>
              </a:path>
            </a:pathLst>
          </a:custGeom>
          <a:blipFill>
            <a:blip r:embed="rId7"/>
            <a:stretch>
              <a:fillRect l="0" t="0" r="0" b="0"/>
            </a:stretch>
          </a:blipFill>
        </p:spPr>
      </p:sp>
      <p:sp>
        <p:nvSpPr>
          <p:cNvPr name="Freeform 10" id="10"/>
          <p:cNvSpPr/>
          <p:nvPr/>
        </p:nvSpPr>
        <p:spPr>
          <a:xfrm flipH="true" flipV="false" rot="2600060">
            <a:off x="-1096526" y="4898344"/>
            <a:ext cx="1614403" cy="4031807"/>
          </a:xfrm>
          <a:custGeom>
            <a:avLst/>
            <a:gdLst/>
            <a:ahLst/>
            <a:cxnLst/>
            <a:rect r="r" b="b" t="t" l="l"/>
            <a:pathLst>
              <a:path h="4031807" w="1614403">
                <a:moveTo>
                  <a:pt x="1614402" y="0"/>
                </a:moveTo>
                <a:lnTo>
                  <a:pt x="0" y="0"/>
                </a:lnTo>
                <a:lnTo>
                  <a:pt x="0" y="4031808"/>
                </a:lnTo>
                <a:lnTo>
                  <a:pt x="1614402" y="4031808"/>
                </a:lnTo>
                <a:lnTo>
                  <a:pt x="1614402" y="0"/>
                </a:lnTo>
                <a:close/>
              </a:path>
            </a:pathLst>
          </a:custGeom>
          <a:blipFill>
            <a:blip r:embed="rId5"/>
            <a:stretch>
              <a:fillRect l="0" t="0" r="0" b="0"/>
            </a:stretch>
          </a:blipFill>
        </p:spPr>
      </p:sp>
      <p:sp>
        <p:nvSpPr>
          <p:cNvPr name="Freeform 11" id="11"/>
          <p:cNvSpPr/>
          <p:nvPr/>
        </p:nvSpPr>
        <p:spPr>
          <a:xfrm flipH="false" flipV="false" rot="-8984485">
            <a:off x="17907389" y="642603"/>
            <a:ext cx="2201983" cy="3797766"/>
          </a:xfrm>
          <a:custGeom>
            <a:avLst/>
            <a:gdLst/>
            <a:ahLst/>
            <a:cxnLst/>
            <a:rect r="r" b="b" t="t" l="l"/>
            <a:pathLst>
              <a:path h="3797766" w="2201983">
                <a:moveTo>
                  <a:pt x="0" y="0"/>
                </a:moveTo>
                <a:lnTo>
                  <a:pt x="2201983" y="0"/>
                </a:lnTo>
                <a:lnTo>
                  <a:pt x="2201983" y="3797766"/>
                </a:lnTo>
                <a:lnTo>
                  <a:pt x="0" y="3797766"/>
                </a:lnTo>
                <a:lnTo>
                  <a:pt x="0" y="0"/>
                </a:lnTo>
                <a:close/>
              </a:path>
            </a:pathLst>
          </a:custGeom>
          <a:blipFill>
            <a:blip r:embed="rId4"/>
            <a:stretch>
              <a:fillRect l="0" t="0" r="0" b="0"/>
            </a:stretch>
          </a:blipFill>
        </p:spPr>
      </p:sp>
      <p:sp>
        <p:nvSpPr>
          <p:cNvPr name="AutoShape 12" id="12"/>
          <p:cNvSpPr/>
          <p:nvPr/>
        </p:nvSpPr>
        <p:spPr>
          <a:xfrm>
            <a:off x="7216384" y="8199484"/>
            <a:ext cx="3855233" cy="0"/>
          </a:xfrm>
          <a:prstGeom prst="line">
            <a:avLst/>
          </a:prstGeom>
          <a:ln cap="rnd" w="38100">
            <a:solidFill>
              <a:srgbClr val="AD597B"/>
            </a:solidFill>
            <a:prstDash val="solid"/>
            <a:headEnd type="none" len="sm" w="sm"/>
            <a:tailEnd type="none" len="sm" w="sm"/>
          </a:ln>
        </p:spPr>
      </p:sp>
      <p:sp>
        <p:nvSpPr>
          <p:cNvPr name="Freeform 13" id="13"/>
          <p:cNvSpPr/>
          <p:nvPr/>
        </p:nvSpPr>
        <p:spPr>
          <a:xfrm flipH="false" flipV="false" rot="4197750">
            <a:off x="4369873" y="9317572"/>
            <a:ext cx="1586792" cy="1432080"/>
          </a:xfrm>
          <a:custGeom>
            <a:avLst/>
            <a:gdLst/>
            <a:ahLst/>
            <a:cxnLst/>
            <a:rect r="r" b="b" t="t" l="l"/>
            <a:pathLst>
              <a:path h="1432080" w="1586792">
                <a:moveTo>
                  <a:pt x="0" y="0"/>
                </a:moveTo>
                <a:lnTo>
                  <a:pt x="1586792" y="0"/>
                </a:lnTo>
                <a:lnTo>
                  <a:pt x="1586792" y="1432080"/>
                </a:lnTo>
                <a:lnTo>
                  <a:pt x="0" y="1432080"/>
                </a:lnTo>
                <a:lnTo>
                  <a:pt x="0" y="0"/>
                </a:lnTo>
                <a:close/>
              </a:path>
            </a:pathLst>
          </a:custGeom>
          <a:blipFill>
            <a:blip r:embed="rId8"/>
            <a:stretch>
              <a:fillRect l="0" t="0" r="0" b="0"/>
            </a:stretch>
          </a:blipFill>
        </p:spPr>
      </p:sp>
      <p:sp>
        <p:nvSpPr>
          <p:cNvPr name="Freeform 14" id="14"/>
          <p:cNvSpPr/>
          <p:nvPr/>
        </p:nvSpPr>
        <p:spPr>
          <a:xfrm flipH="false" flipV="false" rot="2222277">
            <a:off x="14861386" y="-915926"/>
            <a:ext cx="4056587" cy="3889252"/>
          </a:xfrm>
          <a:custGeom>
            <a:avLst/>
            <a:gdLst/>
            <a:ahLst/>
            <a:cxnLst/>
            <a:rect r="r" b="b" t="t" l="l"/>
            <a:pathLst>
              <a:path h="3889252" w="4056587">
                <a:moveTo>
                  <a:pt x="0" y="0"/>
                </a:moveTo>
                <a:lnTo>
                  <a:pt x="4056586" y="0"/>
                </a:lnTo>
                <a:lnTo>
                  <a:pt x="4056586" y="3889252"/>
                </a:lnTo>
                <a:lnTo>
                  <a:pt x="0" y="3889252"/>
                </a:lnTo>
                <a:lnTo>
                  <a:pt x="0" y="0"/>
                </a:lnTo>
                <a:close/>
              </a:path>
            </a:pathLst>
          </a:custGeom>
          <a:blipFill>
            <a:blip r:embed="rId9"/>
            <a:stretch>
              <a:fillRect l="0" t="0" r="0" b="0"/>
            </a:stretch>
          </a:blipFill>
        </p:spPr>
      </p:sp>
      <p:sp>
        <p:nvSpPr>
          <p:cNvPr name="Freeform 15" id="15"/>
          <p:cNvSpPr/>
          <p:nvPr/>
        </p:nvSpPr>
        <p:spPr>
          <a:xfrm flipH="false" flipV="false" rot="653390">
            <a:off x="21737" y="1157483"/>
            <a:ext cx="1267387" cy="3413837"/>
          </a:xfrm>
          <a:custGeom>
            <a:avLst/>
            <a:gdLst/>
            <a:ahLst/>
            <a:cxnLst/>
            <a:rect r="r" b="b" t="t" l="l"/>
            <a:pathLst>
              <a:path h="3413837" w="1267387">
                <a:moveTo>
                  <a:pt x="0" y="0"/>
                </a:moveTo>
                <a:lnTo>
                  <a:pt x="1267387" y="0"/>
                </a:lnTo>
                <a:lnTo>
                  <a:pt x="1267387" y="3413838"/>
                </a:lnTo>
                <a:lnTo>
                  <a:pt x="0" y="3413838"/>
                </a:lnTo>
                <a:lnTo>
                  <a:pt x="0" y="0"/>
                </a:lnTo>
                <a:close/>
              </a:path>
            </a:pathLst>
          </a:custGeom>
          <a:blipFill>
            <a:blip r:embed="rId10"/>
            <a:stretch>
              <a:fillRect l="0" t="0" r="0" b="0"/>
            </a:stretch>
          </a:blipFill>
        </p:spPr>
      </p:sp>
      <p:sp>
        <p:nvSpPr>
          <p:cNvPr name="Freeform 16" id="16"/>
          <p:cNvSpPr/>
          <p:nvPr/>
        </p:nvSpPr>
        <p:spPr>
          <a:xfrm flipH="false" flipV="false" rot="4197750">
            <a:off x="-533709" y="3264278"/>
            <a:ext cx="2310109" cy="2084873"/>
          </a:xfrm>
          <a:custGeom>
            <a:avLst/>
            <a:gdLst/>
            <a:ahLst/>
            <a:cxnLst/>
            <a:rect r="r" b="b" t="t" l="l"/>
            <a:pathLst>
              <a:path h="2084873" w="2310109">
                <a:moveTo>
                  <a:pt x="0" y="0"/>
                </a:moveTo>
                <a:lnTo>
                  <a:pt x="2310109" y="0"/>
                </a:lnTo>
                <a:lnTo>
                  <a:pt x="2310109" y="2084873"/>
                </a:lnTo>
                <a:lnTo>
                  <a:pt x="0" y="2084873"/>
                </a:lnTo>
                <a:lnTo>
                  <a:pt x="0" y="0"/>
                </a:lnTo>
                <a:close/>
              </a:path>
            </a:pathLst>
          </a:custGeom>
          <a:blipFill>
            <a:blip r:embed="rId8"/>
            <a:stretch>
              <a:fillRect l="0" t="0" r="0" b="0"/>
            </a:stretch>
          </a:blipFill>
        </p:spPr>
      </p:sp>
      <p:sp>
        <p:nvSpPr>
          <p:cNvPr name="Freeform 17" id="17"/>
          <p:cNvSpPr/>
          <p:nvPr/>
        </p:nvSpPr>
        <p:spPr>
          <a:xfrm flipH="false" flipV="false" rot="-8984485">
            <a:off x="17187008" y="2950134"/>
            <a:ext cx="2201983" cy="3797766"/>
          </a:xfrm>
          <a:custGeom>
            <a:avLst/>
            <a:gdLst/>
            <a:ahLst/>
            <a:cxnLst/>
            <a:rect r="r" b="b" t="t" l="l"/>
            <a:pathLst>
              <a:path h="3797766" w="2201983">
                <a:moveTo>
                  <a:pt x="0" y="0"/>
                </a:moveTo>
                <a:lnTo>
                  <a:pt x="2201984" y="0"/>
                </a:lnTo>
                <a:lnTo>
                  <a:pt x="2201984" y="3797765"/>
                </a:lnTo>
                <a:lnTo>
                  <a:pt x="0" y="3797765"/>
                </a:lnTo>
                <a:lnTo>
                  <a:pt x="0" y="0"/>
                </a:lnTo>
                <a:close/>
              </a:path>
            </a:pathLst>
          </a:custGeom>
          <a:blipFill>
            <a:blip r:embed="rId4"/>
            <a:stretch>
              <a:fillRect l="0" t="0" r="0" b="0"/>
            </a:stretch>
          </a:blipFill>
        </p:spPr>
      </p:sp>
      <p:sp>
        <p:nvSpPr>
          <p:cNvPr name="Freeform 18" id="18"/>
          <p:cNvSpPr/>
          <p:nvPr/>
        </p:nvSpPr>
        <p:spPr>
          <a:xfrm flipH="false" flipV="false" rot="2222277">
            <a:off x="-910825" y="6989858"/>
            <a:ext cx="4056587" cy="3889252"/>
          </a:xfrm>
          <a:custGeom>
            <a:avLst/>
            <a:gdLst/>
            <a:ahLst/>
            <a:cxnLst/>
            <a:rect r="r" b="b" t="t" l="l"/>
            <a:pathLst>
              <a:path h="3889252" w="4056587">
                <a:moveTo>
                  <a:pt x="0" y="0"/>
                </a:moveTo>
                <a:lnTo>
                  <a:pt x="4056586" y="0"/>
                </a:lnTo>
                <a:lnTo>
                  <a:pt x="4056586" y="3889253"/>
                </a:lnTo>
                <a:lnTo>
                  <a:pt x="0" y="3889253"/>
                </a:lnTo>
                <a:lnTo>
                  <a:pt x="0" y="0"/>
                </a:lnTo>
                <a:close/>
              </a:path>
            </a:pathLst>
          </a:custGeom>
          <a:blipFill>
            <a:blip r:embed="rId9"/>
            <a:stretch>
              <a:fillRect l="0" t="0" r="0" b="0"/>
            </a:stretch>
          </a:blipFill>
        </p:spPr>
      </p:sp>
      <p:sp>
        <p:nvSpPr>
          <p:cNvPr name="Freeform 19" id="19"/>
          <p:cNvSpPr/>
          <p:nvPr/>
        </p:nvSpPr>
        <p:spPr>
          <a:xfrm flipH="false" flipV="false" rot="971682">
            <a:off x="1483226" y="6145374"/>
            <a:ext cx="1231073" cy="1095655"/>
          </a:xfrm>
          <a:custGeom>
            <a:avLst/>
            <a:gdLst/>
            <a:ahLst/>
            <a:cxnLst/>
            <a:rect r="r" b="b" t="t" l="l"/>
            <a:pathLst>
              <a:path h="1095655" w="1231073">
                <a:moveTo>
                  <a:pt x="0" y="0"/>
                </a:moveTo>
                <a:lnTo>
                  <a:pt x="1231073" y="0"/>
                </a:lnTo>
                <a:lnTo>
                  <a:pt x="1231073" y="1095654"/>
                </a:lnTo>
                <a:lnTo>
                  <a:pt x="0" y="1095654"/>
                </a:lnTo>
                <a:lnTo>
                  <a:pt x="0" y="0"/>
                </a:lnTo>
                <a:close/>
              </a:path>
            </a:pathLst>
          </a:custGeom>
          <a:blipFill>
            <a:blip r:embed="rId11"/>
            <a:stretch>
              <a:fillRect l="0" t="0" r="0" b="0"/>
            </a:stretch>
          </a:blipFill>
        </p:spPr>
      </p:sp>
      <p:sp>
        <p:nvSpPr>
          <p:cNvPr name="TextBox 20" id="20"/>
          <p:cNvSpPr txBox="true"/>
          <p:nvPr/>
        </p:nvSpPr>
        <p:spPr>
          <a:xfrm rot="0">
            <a:off x="697573" y="1770572"/>
            <a:ext cx="15682581" cy="4799299"/>
          </a:xfrm>
          <a:prstGeom prst="rect">
            <a:avLst/>
          </a:prstGeom>
        </p:spPr>
        <p:txBody>
          <a:bodyPr anchor="t" rtlCol="false" tIns="0" lIns="0" bIns="0" rIns="0">
            <a:spAutoFit/>
          </a:bodyPr>
          <a:lstStyle/>
          <a:p>
            <a:pPr algn="ctr">
              <a:lnSpc>
                <a:spcPts val="9521"/>
              </a:lnSpc>
            </a:pPr>
            <a:r>
              <a:rPr lang="en-US" sz="6801" b="true">
                <a:solidFill>
                  <a:srgbClr val="491C2C"/>
                </a:solidFill>
                <a:latin typeface="The Seasons Bold"/>
                <a:ea typeface="The Seasons Bold"/>
                <a:cs typeface="The Seasons Bold"/>
                <a:sym typeface="The Seasons Bold"/>
              </a:rPr>
              <a:t>CRITERIA FOR SELECTING THE TOP 3 HIGHEST PERFORMING LGUs FOR THE HEALTH SUMMIT 2026</a:t>
            </a:r>
          </a:p>
          <a:p>
            <a:pPr algn="ctr">
              <a:lnSpc>
                <a:spcPts val="9521"/>
              </a:lnSpc>
            </a:pPr>
          </a:p>
        </p:txBody>
      </p:sp>
      <p:sp>
        <p:nvSpPr>
          <p:cNvPr name="TextBox 21" id="21"/>
          <p:cNvSpPr txBox="true"/>
          <p:nvPr/>
        </p:nvSpPr>
        <p:spPr>
          <a:xfrm rot="0">
            <a:off x="3054018" y="6639327"/>
            <a:ext cx="12179965" cy="1261110"/>
          </a:xfrm>
          <a:prstGeom prst="rect">
            <a:avLst/>
          </a:prstGeom>
        </p:spPr>
        <p:txBody>
          <a:bodyPr anchor="t" rtlCol="false" tIns="0" lIns="0" bIns="0" rIns="0">
            <a:spAutoFit/>
          </a:bodyPr>
          <a:lstStyle/>
          <a:p>
            <a:pPr algn="ctr">
              <a:lnSpc>
                <a:spcPts val="5039"/>
              </a:lnSpc>
            </a:pPr>
            <a:r>
              <a:rPr lang="en-US" sz="3599" b="true">
                <a:solidFill>
                  <a:srgbClr val="AD597B"/>
                </a:solidFill>
                <a:latin typeface="Glacial Indifference Bold"/>
                <a:ea typeface="Glacial Indifference Bold"/>
                <a:cs typeface="Glacial Indifference Bold"/>
                <a:sym typeface="Glacial Indifference Bold"/>
              </a:rPr>
              <a:t>DR. VERGEL JAY T. BAUTISTA</a:t>
            </a:r>
          </a:p>
          <a:p>
            <a:pPr algn="ctr">
              <a:lnSpc>
                <a:spcPts val="5039"/>
              </a:lnSpc>
            </a:pPr>
            <a:r>
              <a:rPr lang="en-US" sz="3599" b="true">
                <a:solidFill>
                  <a:srgbClr val="AD597B"/>
                </a:solidFill>
                <a:latin typeface="Glacial Indifference Bold"/>
                <a:ea typeface="Glacial Indifference Bold"/>
                <a:cs typeface="Glacial Indifference Bold"/>
                <a:sym typeface="Glacial Indifference Bold"/>
              </a:rPr>
              <a:t>PROVINCIAL HEALTH TEAM LEADER- DAVAO DEL NORTE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BACKGROUND</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2253845" y="2175586"/>
            <a:ext cx="14261942" cy="6243719"/>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The a</a:t>
            </a:r>
            <a:r>
              <a:rPr lang="en-US" b="true" sz="3934">
                <a:solidFill>
                  <a:srgbClr val="491C2C"/>
                </a:solidFill>
                <a:latin typeface="Glacial Indifference Bold"/>
                <a:ea typeface="Glacial Indifference Bold"/>
                <a:cs typeface="Glacial Indifference Bold"/>
                <a:sym typeface="Glacial Indifference Bold"/>
              </a:rPr>
              <a:t>doption of the 8-Point Action Agenda as the Medium-Term Strategy of the Health Sector for 2023-2028 encourages all government agencies to align Policies, Programs, and Funds for Health. </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The Provincial Health Office aims to present the Key Health System Tools for better health outcomes and stronger health systems through humanistic leadership and good governance.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558898" y="2001317"/>
            <a:ext cx="15586069" cy="6243719"/>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The highligh</a:t>
            </a:r>
            <a:r>
              <a:rPr lang="en-US" b="true" sz="3934">
                <a:solidFill>
                  <a:srgbClr val="491C2C"/>
                </a:solidFill>
                <a:latin typeface="Glacial Indifference Bold"/>
                <a:ea typeface="Glacial Indifference Bold"/>
                <a:cs typeface="Glacial Indifference Bold"/>
                <a:sym typeface="Glacial Indifference Bold"/>
              </a:rPr>
              <a:t>t of this activity is the Presentation of the Health Indicators in the Provincial Health Office Programs for Calendar Year 2025.</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Each Municipalities and Cities are assessed- translating their health delivery performance into color codes. The top performing LGUs will be awarded and recognized for their valuable accomplishments. </a:t>
            </a:r>
          </a:p>
          <a:p>
            <a:pPr algn="just">
              <a:lnSpc>
                <a:spcPts val="550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558898" y="2001317"/>
            <a:ext cx="15586069" cy="7634369"/>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There is a total number</a:t>
            </a:r>
            <a:r>
              <a:rPr lang="en-US" b="true" sz="3934">
                <a:solidFill>
                  <a:srgbClr val="491C2C"/>
                </a:solidFill>
                <a:latin typeface="Glacial Indifference Bold"/>
                <a:ea typeface="Glacial Indifference Bold"/>
                <a:cs typeface="Glacial Indifference Bold"/>
                <a:sym typeface="Glacial Indifference Bold"/>
              </a:rPr>
              <a:t> of the 26 INDICATORS for this year, in which</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4 INDICATORS ARE FROM HEALTH GOVERNANCE PROGRAM</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-Local Health Board and Inter Local Health Zone</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-Operation of Barangay Health Workers</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-Davao del Norte Health Information and Management System (DHIMS)</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-Davao del Norte Electronic Health Referral System (DEHEARS)</a:t>
            </a:r>
          </a:p>
          <a:p>
            <a:pPr algn="just">
              <a:lnSpc>
                <a:spcPts val="5507"/>
              </a:lnSpc>
            </a:pPr>
          </a:p>
          <a:p>
            <a:pPr algn="just">
              <a:lnSpc>
                <a:spcPts val="550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558898" y="1631115"/>
            <a:ext cx="15586069" cy="7634369"/>
          </a:xfrm>
          <a:prstGeom prst="rect">
            <a:avLst/>
          </a:prstGeom>
        </p:spPr>
        <p:txBody>
          <a:bodyPr anchor="t" rtlCol="false" tIns="0" lIns="0" bIns="0" rIns="0">
            <a:spAutoFit/>
          </a:bodyPr>
          <a:lstStyle/>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9 INDICATORS ARE FROM FAMILY HEALTH CARE PROGRAM</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-Maternal Health Care</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-Integrated Management of Childhood Illness (IMCI)</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-Women’s Health Care</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-Male Reproductive Health Care</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-Family Planning</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-National Immunization Program</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-Nutrition Program</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-Dental Health Care</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-Exclusive Breastfeeding Program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93411" y="1672540"/>
            <a:ext cx="14822375" cy="9182316"/>
          </a:xfrm>
          <a:prstGeom prst="rect">
            <a:avLst/>
          </a:prstGeom>
        </p:spPr>
        <p:txBody>
          <a:bodyPr anchor="t" rtlCol="false" tIns="0" lIns="0" bIns="0" rIns="0">
            <a:spAutoFit/>
          </a:bodyPr>
          <a:lstStyle/>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2</a:t>
            </a:r>
            <a:r>
              <a:rPr lang="en-US" b="true" sz="3741">
                <a:solidFill>
                  <a:srgbClr val="491C2C"/>
                </a:solidFill>
                <a:latin typeface="Glacial Indifference Bold"/>
                <a:ea typeface="Glacial Indifference Bold"/>
                <a:cs typeface="Glacial Indifference Bold"/>
                <a:sym typeface="Glacial Indifference Bold"/>
              </a:rPr>
              <a:t> INDICATORS ARE FROM ENVIRONMENTAL, OCCUPATIONAL HEALTH AND SANITATION PROGRAM</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-Water, Food and Sanitation Services</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-Vector Control and Environmental Health Related</a:t>
            </a:r>
          </a:p>
          <a:p>
            <a:pPr algn="just">
              <a:lnSpc>
                <a:spcPts val="5238"/>
              </a:lnSpc>
            </a:pP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6 INDICATORS ARE FROM DISEASE PREVENTION AND CONTROL PROGRAM</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-TB Prevention and Control</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-STI, HIV Prevention and Control</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-Rabies Prevention and Control</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-Tobacco Prevention and Control</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-Non- Communicable Disease Prevention and Control</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-Mental Health Program</a:t>
            </a:r>
          </a:p>
          <a:p>
            <a:pPr algn="just">
              <a:lnSpc>
                <a:spcPts val="523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43429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93411" y="1672540"/>
            <a:ext cx="14822375" cy="5271207"/>
          </a:xfrm>
          <a:prstGeom prst="rect">
            <a:avLst/>
          </a:prstGeom>
        </p:spPr>
        <p:txBody>
          <a:bodyPr anchor="t" rtlCol="false" tIns="0" lIns="0" bIns="0" rIns="0">
            <a:spAutoFit/>
          </a:bodyPr>
          <a:lstStyle/>
          <a:p>
            <a:pPr algn="just">
              <a:lnSpc>
                <a:spcPts val="5238"/>
              </a:lnSpc>
            </a:pPr>
            <a:r>
              <a:rPr lang="en-US" sz="3741" b="true">
                <a:solidFill>
                  <a:srgbClr val="491C2C"/>
                </a:solidFill>
                <a:latin typeface="Glacial Indifference Bold"/>
                <a:ea typeface="Glacial Indifference Bold"/>
                <a:cs typeface="Glacial Indifference Bold"/>
                <a:sym typeface="Glacial Indifference Bold"/>
              </a:rPr>
              <a:t>5</a:t>
            </a:r>
            <a:r>
              <a:rPr lang="en-US" b="true" sz="3741">
                <a:solidFill>
                  <a:srgbClr val="491C2C"/>
                </a:solidFill>
                <a:latin typeface="Glacial Indifference Bold"/>
                <a:ea typeface="Glacial Indifference Bold"/>
                <a:cs typeface="Glacial Indifference Bold"/>
                <a:sym typeface="Glacial Indifference Bold"/>
              </a:rPr>
              <a:t> Indicators are from Allied Health Services Program</a:t>
            </a:r>
          </a:p>
          <a:p>
            <a:pPr algn="just">
              <a:lnSpc>
                <a:spcPts val="5238"/>
              </a:lnSpc>
            </a:pP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-Health Promotion Education and Advocacy</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-Epidemiology and Surveillance</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-Disaster Risk Reduction and Management in Health</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-Adolescent Health and Youth Development</a:t>
            </a:r>
          </a:p>
          <a:p>
            <a:pPr algn="just">
              <a:lnSpc>
                <a:spcPts val="5238"/>
              </a:lnSpc>
            </a:pPr>
            <a:r>
              <a:rPr lang="en-US" b="true" sz="3741">
                <a:solidFill>
                  <a:srgbClr val="491C2C"/>
                </a:solidFill>
                <a:latin typeface="Glacial Indifference Bold"/>
                <a:ea typeface="Glacial Indifference Bold"/>
                <a:cs typeface="Glacial Indifference Bold"/>
                <a:sym typeface="Glacial Indifference Bold"/>
              </a:rPr>
              <a:t>-Population Management Services</a:t>
            </a:r>
          </a:p>
          <a:p>
            <a:pPr algn="just">
              <a:lnSpc>
                <a:spcPts val="523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301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73231" y="1267348"/>
            <a:ext cx="15586069" cy="11110994"/>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There will be a</a:t>
            </a:r>
            <a:r>
              <a:rPr lang="en-US" b="true" sz="3934">
                <a:solidFill>
                  <a:srgbClr val="491C2C"/>
                </a:solidFill>
                <a:latin typeface="Glacial Indifference Bold"/>
                <a:ea typeface="Glacial Indifference Bold"/>
                <a:cs typeface="Glacial Indifference Bold"/>
                <a:sym typeface="Glacial Indifference Bold"/>
              </a:rPr>
              <a:t> point system for every c</a:t>
            </a:r>
            <a:r>
              <a:rPr lang="en-US" b="true" sz="3934">
                <a:solidFill>
                  <a:srgbClr val="491C2C"/>
                </a:solidFill>
                <a:latin typeface="Glacial Indifference Bold"/>
                <a:ea typeface="Glacial Indifference Bold"/>
                <a:cs typeface="Glacial Indifference Bold"/>
                <a:sym typeface="Glacial Indifference Bold"/>
              </a:rPr>
              <a:t>ORRESPONDING C</a:t>
            </a:r>
            <a:r>
              <a:rPr lang="en-US" b="true" sz="3934">
                <a:solidFill>
                  <a:srgbClr val="491C2C"/>
                </a:solidFill>
                <a:latin typeface="Glacial Indifference Bold"/>
                <a:ea typeface="Glacial Indifference Bold"/>
                <a:cs typeface="Glacial Indifference Bold"/>
                <a:sym typeface="Glacial Indifference Bold"/>
              </a:rPr>
              <a:t>olor in each performance indicators:</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 </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·If the performance of the LGU is </a:t>
            </a:r>
            <a:r>
              <a:rPr lang="en-US" sz="3934" b="true">
                <a:solidFill>
                  <a:srgbClr val="00BF63"/>
                </a:solidFill>
                <a:latin typeface="Glacial Indifference Bold"/>
                <a:ea typeface="Glacial Indifference Bold"/>
                <a:cs typeface="Glacial Indifference Bold"/>
                <a:sym typeface="Glacial Indifference Bold"/>
              </a:rPr>
              <a:t>GREEN</a:t>
            </a:r>
            <a:r>
              <a:rPr lang="en-US" b="true" sz="3934">
                <a:solidFill>
                  <a:srgbClr val="491C2C"/>
                </a:solidFill>
                <a:latin typeface="Glacial Indifference Bold"/>
                <a:ea typeface="Glacial Indifference Bold"/>
                <a:cs typeface="Glacial Indifference Bold"/>
                <a:sym typeface="Glacial Indifference Bold"/>
              </a:rPr>
              <a:t> based on the Criteria, this will correspond to</a:t>
            </a:r>
            <a:r>
              <a:rPr lang="en-US" sz="3934" b="true">
                <a:solidFill>
                  <a:srgbClr val="00BF63"/>
                </a:solidFill>
                <a:latin typeface="Glacial Indifference Bold"/>
                <a:ea typeface="Glacial Indifference Bold"/>
                <a:cs typeface="Glacial Indifference Bold"/>
                <a:sym typeface="Glacial Indifference Bold"/>
              </a:rPr>
              <a:t> 30 POINTS</a:t>
            </a:r>
            <a:r>
              <a:rPr lang="en-US" b="true" sz="3934">
                <a:solidFill>
                  <a:srgbClr val="491C2C"/>
                </a:solidFill>
                <a:latin typeface="Glacial Indifference Bold"/>
                <a:ea typeface="Glacial Indifference Bold"/>
                <a:cs typeface="Glacial Indifference Bold"/>
                <a:sym typeface="Glacial Indifference Bold"/>
              </a:rPr>
              <a:t>.</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·If the performance of the LGU is </a:t>
            </a:r>
            <a:r>
              <a:rPr lang="en-US" sz="3934" b="true">
                <a:solidFill>
                  <a:srgbClr val="FF914D"/>
                </a:solidFill>
                <a:latin typeface="Glacial Indifference Bold"/>
                <a:ea typeface="Glacial Indifference Bold"/>
                <a:cs typeface="Glacial Indifference Bold"/>
                <a:sym typeface="Glacial Indifference Bold"/>
              </a:rPr>
              <a:t>YELLOW</a:t>
            </a:r>
            <a:r>
              <a:rPr lang="en-US" b="true" sz="3934">
                <a:solidFill>
                  <a:srgbClr val="491C2C"/>
                </a:solidFill>
                <a:latin typeface="Glacial Indifference Bold"/>
                <a:ea typeface="Glacial Indifference Bold"/>
                <a:cs typeface="Glacial Indifference Bold"/>
                <a:sym typeface="Glacial Indifference Bold"/>
              </a:rPr>
              <a:t> based on the Criteria, this will correspond to</a:t>
            </a:r>
            <a:r>
              <a:rPr lang="en-US" sz="3934" b="true">
                <a:solidFill>
                  <a:srgbClr val="FF914D"/>
                </a:solidFill>
                <a:latin typeface="Glacial Indifference Bold"/>
                <a:ea typeface="Glacial Indifference Bold"/>
                <a:cs typeface="Glacial Indifference Bold"/>
                <a:sym typeface="Glacial Indifference Bold"/>
              </a:rPr>
              <a:t> 20 POINTS</a:t>
            </a:r>
            <a:r>
              <a:rPr lang="en-US" b="true" sz="3934">
                <a:solidFill>
                  <a:srgbClr val="491C2C"/>
                </a:solidFill>
                <a:latin typeface="Glacial Indifference Bold"/>
                <a:ea typeface="Glacial Indifference Bold"/>
                <a:cs typeface="Glacial Indifference Bold"/>
                <a:sym typeface="Glacial Indifference Bold"/>
              </a:rPr>
              <a:t>.</a:t>
            </a: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·If the performance of the LGU is </a:t>
            </a:r>
            <a:r>
              <a:rPr lang="en-US" sz="3934" b="true">
                <a:solidFill>
                  <a:srgbClr val="FF3131"/>
                </a:solidFill>
                <a:latin typeface="Glacial Indifference Bold"/>
                <a:ea typeface="Glacial Indifference Bold"/>
                <a:cs typeface="Glacial Indifference Bold"/>
                <a:sym typeface="Glacial Indifference Bold"/>
              </a:rPr>
              <a:t>RED</a:t>
            </a:r>
            <a:r>
              <a:rPr lang="en-US" b="true" sz="3934">
                <a:solidFill>
                  <a:srgbClr val="491C2C"/>
                </a:solidFill>
                <a:latin typeface="Glacial Indifference Bold"/>
                <a:ea typeface="Glacial Indifference Bold"/>
                <a:cs typeface="Glacial Indifference Bold"/>
                <a:sym typeface="Glacial Indifference Bold"/>
              </a:rPr>
              <a:t> based on the Criteria, this will correspond to </a:t>
            </a:r>
            <a:r>
              <a:rPr lang="en-US" sz="3934" b="true">
                <a:solidFill>
                  <a:srgbClr val="FF3131"/>
                </a:solidFill>
                <a:latin typeface="Glacial Indifference Bold"/>
                <a:ea typeface="Glacial Indifference Bold"/>
                <a:cs typeface="Glacial Indifference Bold"/>
                <a:sym typeface="Glacial Indifference Bold"/>
              </a:rPr>
              <a:t>10 POINTS</a:t>
            </a:r>
            <a:r>
              <a:rPr lang="en-US" b="true" sz="3934">
                <a:solidFill>
                  <a:srgbClr val="491C2C"/>
                </a:solidFill>
                <a:latin typeface="Glacial Indifference Bold"/>
                <a:ea typeface="Glacial Indifference Bold"/>
                <a:cs typeface="Glacial Indifference Bold"/>
                <a:sym typeface="Glacial Indifference Bold"/>
              </a:rPr>
              <a:t>.</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The total accumulated points of each LGU in all the 26 Indicators will be computed. </a:t>
            </a:r>
          </a:p>
          <a:p>
            <a:pPr algn="just">
              <a:lnSpc>
                <a:spcPts val="5507"/>
              </a:lnSpc>
            </a:pPr>
          </a:p>
          <a:p>
            <a:pPr algn="just">
              <a:lnSpc>
                <a:spcPts val="5507"/>
              </a:lnSpc>
            </a:pPr>
          </a:p>
          <a:p>
            <a:pPr algn="just">
              <a:lnSpc>
                <a:spcPts val="5507"/>
              </a:lnSpc>
            </a:pPr>
          </a:p>
          <a:p>
            <a:pPr algn="just">
              <a:lnSpc>
                <a:spcPts val="550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1100950" y="-2035203"/>
            <a:ext cx="15300576" cy="13214134"/>
          </a:xfrm>
          <a:custGeom>
            <a:avLst/>
            <a:gdLst/>
            <a:ahLst/>
            <a:cxnLst/>
            <a:rect r="r" b="b" t="t" l="l"/>
            <a:pathLst>
              <a:path h="13214134" w="15300576">
                <a:moveTo>
                  <a:pt x="0" y="0"/>
                </a:moveTo>
                <a:lnTo>
                  <a:pt x="15300577" y="0"/>
                </a:lnTo>
                <a:lnTo>
                  <a:pt x="15300577"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415218" y="7339743"/>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463657" y="5373056"/>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708376" y="5093222"/>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236688" y="7059350"/>
            <a:ext cx="1102654" cy="995145"/>
          </a:xfrm>
          <a:custGeom>
            <a:avLst/>
            <a:gdLst/>
            <a:ahLst/>
            <a:cxnLst/>
            <a:rect r="r" b="b" t="t" l="l"/>
            <a:pathLst>
              <a:path h="995145" w="1102654">
                <a:moveTo>
                  <a:pt x="1102653" y="0"/>
                </a:moveTo>
                <a:lnTo>
                  <a:pt x="0" y="0"/>
                </a:lnTo>
                <a:lnTo>
                  <a:pt x="0" y="995145"/>
                </a:lnTo>
                <a:lnTo>
                  <a:pt x="1102653" y="995145"/>
                </a:lnTo>
                <a:lnTo>
                  <a:pt x="1102653" y="0"/>
                </a:lnTo>
                <a:close/>
              </a:path>
            </a:pathLst>
          </a:custGeom>
          <a:blipFill>
            <a:blip r:embed="rId5"/>
            <a:stretch>
              <a:fillRect l="0" t="0" r="0" b="0"/>
            </a:stretch>
          </a:blipFill>
        </p:spPr>
      </p:sp>
      <p:sp>
        <p:nvSpPr>
          <p:cNvPr name="Freeform 7" id="7"/>
          <p:cNvSpPr/>
          <p:nvPr/>
        </p:nvSpPr>
        <p:spPr>
          <a:xfrm flipH="false" flipV="false" rot="-3371741">
            <a:off x="16290660" y="6753582"/>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139330" y="8030145"/>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554193" y="8520320"/>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890337" y="4076725"/>
            <a:ext cx="1102654" cy="995145"/>
          </a:xfrm>
          <a:custGeom>
            <a:avLst/>
            <a:gdLst/>
            <a:ahLst/>
            <a:cxnLst/>
            <a:rect r="r" b="b" t="t" l="l"/>
            <a:pathLst>
              <a:path h="995145" w="1102654">
                <a:moveTo>
                  <a:pt x="1102653" y="0"/>
                </a:moveTo>
                <a:lnTo>
                  <a:pt x="0" y="0"/>
                </a:lnTo>
                <a:lnTo>
                  <a:pt x="0" y="995145"/>
                </a:lnTo>
                <a:lnTo>
                  <a:pt x="1102653" y="995145"/>
                </a:lnTo>
                <a:lnTo>
                  <a:pt x="1102653" y="0"/>
                </a:lnTo>
                <a:close/>
              </a:path>
            </a:pathLst>
          </a:custGeom>
          <a:blipFill>
            <a:blip r:embed="rId5"/>
            <a:stretch>
              <a:fillRect l="0" t="0" r="0" b="0"/>
            </a:stretch>
          </a:blipFill>
        </p:spPr>
      </p:sp>
      <p:sp>
        <p:nvSpPr>
          <p:cNvPr name="Freeform 11" id="11"/>
          <p:cNvSpPr/>
          <p:nvPr/>
        </p:nvSpPr>
        <p:spPr>
          <a:xfrm flipH="false" flipV="false" rot="7872842">
            <a:off x="1824634" y="150846"/>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858175" y="2490899"/>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443296" y="2432881"/>
            <a:ext cx="1968922" cy="4134218"/>
          </a:xfrm>
          <a:custGeom>
            <a:avLst/>
            <a:gdLst/>
            <a:ahLst/>
            <a:cxnLst/>
            <a:rect r="r" b="b" t="t" l="l"/>
            <a:pathLst>
              <a:path h="4134218" w="1968922">
                <a:moveTo>
                  <a:pt x="0" y="0"/>
                </a:moveTo>
                <a:lnTo>
                  <a:pt x="1968922" y="0"/>
                </a:lnTo>
                <a:lnTo>
                  <a:pt x="1968922"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343562" y="-2094791"/>
            <a:ext cx="2078504" cy="3584802"/>
          </a:xfrm>
          <a:custGeom>
            <a:avLst/>
            <a:gdLst/>
            <a:ahLst/>
            <a:cxnLst/>
            <a:rect r="r" b="b" t="t" l="l"/>
            <a:pathLst>
              <a:path h="3584802" w="2078504">
                <a:moveTo>
                  <a:pt x="2078504" y="0"/>
                </a:moveTo>
                <a:lnTo>
                  <a:pt x="0" y="0"/>
                </a:lnTo>
                <a:lnTo>
                  <a:pt x="0" y="3584801"/>
                </a:lnTo>
                <a:lnTo>
                  <a:pt x="2078504" y="3584801"/>
                </a:lnTo>
                <a:lnTo>
                  <a:pt x="2078504" y="0"/>
                </a:lnTo>
                <a:close/>
              </a:path>
            </a:pathLst>
          </a:custGeom>
          <a:blipFill>
            <a:blip r:embed="rId6"/>
            <a:stretch>
              <a:fillRect l="0" t="0" r="0" b="0"/>
            </a:stretch>
          </a:blipFill>
        </p:spPr>
      </p:sp>
      <p:sp>
        <p:nvSpPr>
          <p:cNvPr name="TextBox 15" id="15"/>
          <p:cNvSpPr txBox="true"/>
          <p:nvPr/>
        </p:nvSpPr>
        <p:spPr>
          <a:xfrm rot="0">
            <a:off x="4036829" y="-91366"/>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752077" y="391252"/>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872670" y="-902443"/>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535546" y="2311332"/>
            <a:ext cx="2034829" cy="1836433"/>
          </a:xfrm>
          <a:custGeom>
            <a:avLst/>
            <a:gdLst/>
            <a:ahLst/>
            <a:cxnLst/>
            <a:rect r="r" b="b" t="t" l="l"/>
            <a:pathLst>
              <a:path h="1836433" w="2034829">
                <a:moveTo>
                  <a:pt x="0" y="0"/>
                </a:moveTo>
                <a:lnTo>
                  <a:pt x="2034828" y="0"/>
                </a:lnTo>
                <a:lnTo>
                  <a:pt x="2034828"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191741" y="858123"/>
            <a:ext cx="17096259" cy="2752236"/>
          </a:xfrm>
          <a:prstGeom prst="rect">
            <a:avLst/>
          </a:prstGeom>
        </p:spPr>
        <p:txBody>
          <a:bodyPr anchor="t" rtlCol="false" tIns="0" lIns="0" bIns="0" rIns="0">
            <a:spAutoFit/>
          </a:bodyPr>
          <a:lstStyle/>
          <a:p>
            <a:pPr algn="just">
              <a:lnSpc>
                <a:spcPts val="5497"/>
              </a:lnSpc>
            </a:pPr>
            <a:r>
              <a:rPr lang="en-US" sz="3926" b="true">
                <a:solidFill>
                  <a:srgbClr val="491C2C"/>
                </a:solidFill>
                <a:latin typeface="Glacial Indifference Bold"/>
                <a:ea typeface="Glacial Indifference Bold"/>
                <a:cs typeface="Glacial Indifference Bold"/>
                <a:sym typeface="Glacial Indifference Bold"/>
              </a:rPr>
              <a:t>A weight will be g</a:t>
            </a:r>
            <a:r>
              <a:rPr lang="en-US" b="true" sz="3926">
                <a:solidFill>
                  <a:srgbClr val="491C2C"/>
                </a:solidFill>
                <a:latin typeface="Glacial Indifference Bold"/>
                <a:ea typeface="Glacial Indifference Bold"/>
                <a:cs typeface="Glacial Indifference Bold"/>
                <a:sym typeface="Glacial Indifference Bold"/>
              </a:rPr>
              <a:t>iven to the total accumulated </a:t>
            </a:r>
            <a:r>
              <a:rPr lang="en-US" b="true" sz="3926">
                <a:solidFill>
                  <a:srgbClr val="491C2C"/>
                </a:solidFill>
                <a:latin typeface="Glacial Indifference Bold"/>
                <a:ea typeface="Glacial Indifference Bold"/>
                <a:cs typeface="Glacial Indifference Bold"/>
                <a:sym typeface="Glacial Indifference Bold"/>
              </a:rPr>
              <a:t>POINTS OF THE F</a:t>
            </a:r>
            <a:r>
              <a:rPr lang="en-US" b="true" sz="3926">
                <a:solidFill>
                  <a:srgbClr val="491C2C"/>
                </a:solidFill>
                <a:latin typeface="Glacial Indifference Bold"/>
                <a:ea typeface="Glacial Indifference Bold"/>
                <a:cs typeface="Glacial Indifference Bold"/>
                <a:sym typeface="Glacial Indifference Bold"/>
              </a:rPr>
              <a:t>ollowing Health Programs:</a:t>
            </a:r>
          </a:p>
          <a:p>
            <a:pPr algn="just">
              <a:lnSpc>
                <a:spcPts val="5497"/>
              </a:lnSpc>
            </a:pPr>
          </a:p>
          <a:p>
            <a:pPr algn="just">
              <a:lnSpc>
                <a:spcPts val="5497"/>
              </a:lnSpc>
            </a:pPr>
          </a:p>
        </p:txBody>
      </p:sp>
      <p:graphicFrame>
        <p:nvGraphicFramePr>
          <p:cNvPr name="Table 20" id="20"/>
          <p:cNvGraphicFramePr>
            <a:graphicFrameLocks noGrp="true"/>
          </p:cNvGraphicFramePr>
          <p:nvPr/>
        </p:nvGraphicFramePr>
        <p:xfrm>
          <a:off x="1191741" y="2329121"/>
          <a:ext cx="14684475" cy="7120755"/>
        </p:xfrm>
        <a:graphic>
          <a:graphicData uri="http://schemas.openxmlformats.org/drawingml/2006/table">
            <a:tbl>
              <a:tblPr/>
              <a:tblGrid>
                <a:gridCol w="12458902"/>
                <a:gridCol w="2225573"/>
              </a:tblGrid>
              <a:tr h="951960">
                <a:tc>
                  <a:txBody>
                    <a:bodyPr anchor="t" rtlCol="false"/>
                    <a:lstStyle/>
                    <a:p>
                      <a:pPr algn="ctr">
                        <a:lnSpc>
                          <a:spcPts val="4414"/>
                        </a:lnSpc>
                        <a:defRPr/>
                      </a:pPr>
                      <a:r>
                        <a:rPr lang="en-US" sz="3152">
                          <a:solidFill>
                            <a:srgbClr val="000000"/>
                          </a:solidFill>
                          <a:latin typeface="Bree Serif"/>
                          <a:ea typeface="Bree Serif"/>
                          <a:cs typeface="Bree Serif"/>
                          <a:sym typeface="Bree Serif"/>
                        </a:rPr>
                        <a:t>CATEGORY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WEIGHT</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1960">
                <a:tc>
                  <a:txBody>
                    <a:bodyPr anchor="t" rtlCol="false"/>
                    <a:lstStyle/>
                    <a:p>
                      <a:pPr algn="ctr">
                        <a:lnSpc>
                          <a:spcPts val="4414"/>
                        </a:lnSpc>
                        <a:defRPr/>
                      </a:pPr>
                      <a:r>
                        <a:rPr lang="en-US" sz="3152">
                          <a:solidFill>
                            <a:srgbClr val="000000"/>
                          </a:solidFill>
                          <a:latin typeface="Bree Serif"/>
                          <a:ea typeface="Bree Serif"/>
                          <a:cs typeface="Bree Serif"/>
                          <a:sym typeface="Bree Serif"/>
                        </a:rPr>
                        <a:t>HEALTH GOVERNANCE PROGRAM</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30%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7162">
                <a:tc>
                  <a:txBody>
                    <a:bodyPr anchor="t" rtlCol="false"/>
                    <a:lstStyle/>
                    <a:p>
                      <a:pPr algn="ctr">
                        <a:lnSpc>
                          <a:spcPts val="4414"/>
                        </a:lnSpc>
                        <a:defRPr/>
                      </a:pPr>
                      <a:r>
                        <a:rPr lang="en-US" sz="3152">
                          <a:solidFill>
                            <a:srgbClr val="000000"/>
                          </a:solidFill>
                          <a:latin typeface="Bree Serif"/>
                          <a:ea typeface="Bree Serif"/>
                          <a:cs typeface="Bree Serif"/>
                          <a:sym typeface="Bree Serif"/>
                        </a:rPr>
                        <a:t>FAMILY HEALTH CARE PROGRAM</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20%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1960">
                <a:tc>
                  <a:txBody>
                    <a:bodyPr anchor="t" rtlCol="false"/>
                    <a:lstStyle/>
                    <a:p>
                      <a:pPr algn="ctr">
                        <a:lnSpc>
                          <a:spcPts val="4414"/>
                        </a:lnSpc>
                        <a:defRPr/>
                      </a:pPr>
                      <a:r>
                        <a:rPr lang="en-US" sz="3152">
                          <a:solidFill>
                            <a:srgbClr val="000000"/>
                          </a:solidFill>
                          <a:latin typeface="Bree Serif"/>
                          <a:ea typeface="Bree Serif"/>
                          <a:cs typeface="Bree Serif"/>
                          <a:sym typeface="Bree Serif"/>
                        </a:rPr>
                        <a:t>DISEASE PREVENTION AND CONTROL PROGRAM</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20%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1960">
                <a:tc>
                  <a:txBody>
                    <a:bodyPr anchor="t" rtlCol="false"/>
                    <a:lstStyle/>
                    <a:p>
                      <a:pPr algn="ctr">
                        <a:lnSpc>
                          <a:spcPts val="4414"/>
                        </a:lnSpc>
                        <a:defRPr/>
                      </a:pPr>
                      <a:r>
                        <a:rPr lang="en-US" sz="3152">
                          <a:solidFill>
                            <a:srgbClr val="000000"/>
                          </a:solidFill>
                          <a:latin typeface="Bree Serif"/>
                          <a:ea typeface="Bree Serif"/>
                          <a:cs typeface="Bree Serif"/>
                          <a:sym typeface="Bree Serif"/>
                        </a:rPr>
                        <a:t>ALLIED HEALTH SERVICES PROGRAM</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20%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1403794">
                <a:tc>
                  <a:txBody>
                    <a:bodyPr anchor="t" rtlCol="false"/>
                    <a:lstStyle/>
                    <a:p>
                      <a:pPr algn="ctr">
                        <a:lnSpc>
                          <a:spcPts val="4414"/>
                        </a:lnSpc>
                        <a:defRPr/>
                      </a:pPr>
                      <a:r>
                        <a:rPr lang="en-US" sz="3152">
                          <a:solidFill>
                            <a:srgbClr val="000000"/>
                          </a:solidFill>
                          <a:latin typeface="Bree Serif"/>
                          <a:ea typeface="Bree Serif"/>
                          <a:cs typeface="Bree Serif"/>
                          <a:sym typeface="Bree Serif"/>
                        </a:rPr>
                        <a:t>ENVIRONMENTAL, OCCUPATIONAL HEALTH AND SANITATION PROGRAM</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414"/>
                        </a:lnSpc>
                        <a:defRPr/>
                      </a:pPr>
                      <a:r>
                        <a:rPr lang="en-US" sz="3152">
                          <a:solidFill>
                            <a:srgbClr val="000000"/>
                          </a:solidFill>
                          <a:latin typeface="Bree Serif"/>
                          <a:ea typeface="Bree Serif"/>
                          <a:cs typeface="Bree Serif"/>
                          <a:sym typeface="Bree Serif"/>
                        </a:rPr>
                        <a:t>10%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1960">
                <a:tc>
                  <a:txBody>
                    <a:bodyPr anchor="t" rtlCol="false"/>
                    <a:lstStyle/>
                    <a:p>
                      <a:pPr algn="ctr">
                        <a:lnSpc>
                          <a:spcPts val="4554"/>
                        </a:lnSpc>
                        <a:defRPr/>
                      </a:pPr>
                      <a:r>
                        <a:rPr lang="en-US" sz="3252">
                          <a:solidFill>
                            <a:srgbClr val="000000"/>
                          </a:solidFill>
                          <a:latin typeface="Bree Serif"/>
                          <a:ea typeface="Bree Serif"/>
                          <a:cs typeface="Bree Serif"/>
                          <a:sym typeface="Bree Serif"/>
                        </a:rPr>
                        <a:t>TOTAL</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4554"/>
                        </a:lnSpc>
                        <a:defRPr/>
                      </a:pPr>
                      <a:r>
                        <a:rPr lang="en-US" sz="3252">
                          <a:solidFill>
                            <a:srgbClr val="000000"/>
                          </a:solidFill>
                          <a:latin typeface="Bree Serif"/>
                          <a:ea typeface="Bree Serif"/>
                          <a:cs typeface="Bree Serif"/>
                          <a:sym typeface="Bree Serif"/>
                        </a:rPr>
                        <a:t>100%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301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73231" y="1267348"/>
            <a:ext cx="15586069" cy="9025019"/>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There will be d</a:t>
            </a:r>
            <a:r>
              <a:rPr lang="en-US" b="true" sz="3934">
                <a:solidFill>
                  <a:srgbClr val="491C2C"/>
                </a:solidFill>
                <a:latin typeface="Glacial Indifference Bold"/>
                <a:ea typeface="Glacial Indifference Bold"/>
                <a:cs typeface="Glacial Indifference Bold"/>
                <a:sym typeface="Glacial Indifference Bold"/>
              </a:rPr>
              <a:t>ifferent </a:t>
            </a:r>
            <a:r>
              <a:rPr lang="en-US" b="true" sz="3934">
                <a:solidFill>
                  <a:srgbClr val="491C2C"/>
                </a:solidFill>
                <a:latin typeface="Glacial Indifference Bold"/>
                <a:ea typeface="Glacial Indifference Bold"/>
                <a:cs typeface="Glacial Indifference Bold"/>
                <a:sym typeface="Glacial Indifference Bold"/>
              </a:rPr>
              <a:t>RANKING F</a:t>
            </a:r>
            <a:r>
              <a:rPr lang="en-US" b="true" sz="3934">
                <a:solidFill>
                  <a:srgbClr val="491C2C"/>
                </a:solidFill>
                <a:latin typeface="Glacial Indifference Bold"/>
                <a:ea typeface="Glacial Indifference Bold"/>
                <a:cs typeface="Glacial Indifference Bold"/>
                <a:sym typeface="Glacial Indifference Bold"/>
              </a:rPr>
              <a:t>or Cities and different ranking for the Municipalities.</a:t>
            </a:r>
          </a:p>
          <a:p>
            <a:pPr algn="just">
              <a:lnSpc>
                <a:spcPts val="5507"/>
              </a:lnSpc>
            </a:pPr>
          </a:p>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a:t>
            </a:r>
            <a:r>
              <a:rPr lang="en-US" b="true" sz="3934">
                <a:solidFill>
                  <a:srgbClr val="491C2C"/>
                </a:solidFill>
                <a:latin typeface="Glacial Indifference Bold"/>
                <a:ea typeface="Glacial Indifference Bold"/>
                <a:cs typeface="Glacial Indifference Bold"/>
                <a:sym typeface="Glacial Indifference Bold"/>
              </a:rPr>
              <a:t>he average of each LGU will be ranked from highest to lowest to</a:t>
            </a:r>
            <a:r>
              <a:rPr lang="en-US" sz="3934" b="true">
                <a:solidFill>
                  <a:srgbClr val="491C2C"/>
                </a:solidFill>
                <a:latin typeface="Glacial Indifference Bold"/>
                <a:ea typeface="Glacial Indifference Bold"/>
                <a:cs typeface="Glacial Indifference Bold"/>
                <a:sym typeface="Glacial Indifference Bold"/>
              </a:rPr>
              <a:t> identi</a:t>
            </a:r>
            <a:r>
              <a:rPr lang="en-US" b="true" sz="3934">
                <a:solidFill>
                  <a:srgbClr val="491C2C"/>
                </a:solidFill>
                <a:latin typeface="Glacial Indifference Bold"/>
                <a:ea typeface="Glacial Indifference Bold"/>
                <a:cs typeface="Glacial Indifference Bold"/>
                <a:sym typeface="Glacial Indifference Bold"/>
              </a:rPr>
              <a:t>fy the Top Three (3) Performing LGUs for the City Category and the Top</a:t>
            </a:r>
            <a:r>
              <a:rPr lang="en-US" sz="3934" b="true">
                <a:solidFill>
                  <a:srgbClr val="491C2C"/>
                </a:solidFill>
                <a:latin typeface="Glacial Indifference Bold"/>
                <a:ea typeface="Glacial Indifference Bold"/>
                <a:cs typeface="Glacial Indifference Bold"/>
                <a:sym typeface="Glacial Indifference Bold"/>
              </a:rPr>
              <a:t> </a:t>
            </a:r>
            <a:r>
              <a:rPr lang="en-US" b="true" sz="3934">
                <a:solidFill>
                  <a:srgbClr val="491C2C"/>
                </a:solidFill>
                <a:latin typeface="Glacial Indifference Bold"/>
                <a:ea typeface="Glacial Indifference Bold"/>
                <a:cs typeface="Glacial Indifference Bold"/>
                <a:sym typeface="Glacial Indifference Bold"/>
              </a:rPr>
              <a:t>Three (3) Performing LGUs for the Municipality Category.</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The top three (3) LGUs with the highest average for the City Category and the Municipality Category will be awarded as the TOP Performing LGU, Second Top Performing LGU, and the Third Top Performing LGU respectively.</a:t>
            </a:r>
          </a:p>
          <a:p>
            <a:pPr algn="just">
              <a:lnSpc>
                <a:spcPts val="5507"/>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301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73231" y="1267348"/>
            <a:ext cx="15004077" cy="6939044"/>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In the case o</a:t>
            </a:r>
            <a:r>
              <a:rPr lang="en-US" b="true" sz="3934">
                <a:solidFill>
                  <a:srgbClr val="491C2C"/>
                </a:solidFill>
                <a:latin typeface="Glacial Indifference Bold"/>
                <a:ea typeface="Glacial Indifference Bold"/>
                <a:cs typeface="Glacial Indifference Bold"/>
                <a:sym typeface="Glacial Indifference Bold"/>
              </a:rPr>
              <a:t>f t</a:t>
            </a:r>
            <a:r>
              <a:rPr lang="en-US" b="true" sz="3934">
                <a:solidFill>
                  <a:srgbClr val="491C2C"/>
                </a:solidFill>
                <a:latin typeface="Glacial Indifference Bold"/>
                <a:ea typeface="Glacial Indifference Bold"/>
                <a:cs typeface="Glacial Indifference Bold"/>
                <a:sym typeface="Glacial Indifference Bold"/>
              </a:rPr>
              <a:t>IES F</a:t>
            </a:r>
            <a:r>
              <a:rPr lang="en-US" b="true" sz="3934">
                <a:solidFill>
                  <a:srgbClr val="491C2C"/>
                </a:solidFill>
                <a:latin typeface="Glacial Indifference Bold"/>
                <a:ea typeface="Glacial Indifference Bold"/>
                <a:cs typeface="Glacial Indifference Bold"/>
                <a:sym typeface="Glacial Indifference Bold"/>
              </a:rPr>
              <a:t>or the top three (3) LGUS with the highest average in each category, both LGUs will be awarded according to the place that they obtained.</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For the Barangay Category, the Total Health Budget Allocation for Barangay for CY 2025 was collected and validated.</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Also, for the Barangay Category, the DAVNOR Health Information and Management System (DHIMS) Actual Status as of June 30, 2026 was also included.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301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73231" y="1267348"/>
            <a:ext cx="15004077" cy="5548394"/>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a:t>
            </a:r>
            <a:r>
              <a:rPr lang="en-US" b="true" sz="3934">
                <a:solidFill>
                  <a:srgbClr val="491C2C"/>
                </a:solidFill>
                <a:latin typeface="Glacial Indifference Bold"/>
                <a:ea typeface="Glacial Indifference Bold"/>
                <a:cs typeface="Glacial Indifference Bold"/>
                <a:sym typeface="Glacial Indifference Bold"/>
              </a:rPr>
              <a:t>he top ten (10) Barangays with the highest Percentage will be awarded during the Health Summit.</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Trophies will be given to the Top Performing LGUs and Barangays and Plaques of Recognition will be given as Consolation Prizes during the Davao del Norte Health Summit 2026 on October 23, 2026 namely:</a:t>
            </a:r>
          </a:p>
          <a:p>
            <a:pPr algn="just">
              <a:lnSpc>
                <a:spcPts val="5507"/>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Freeform 15" id="15"/>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6" id="16"/>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7" id="17"/>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graphicFrame>
        <p:nvGraphicFramePr>
          <p:cNvPr name="Table 18" id="18"/>
          <p:cNvGraphicFramePr>
            <a:graphicFrameLocks noGrp="true"/>
          </p:cNvGraphicFramePr>
          <p:nvPr/>
        </p:nvGraphicFramePr>
        <p:xfrm>
          <a:off x="1708515" y="523596"/>
          <a:ext cx="14684475" cy="3844013"/>
        </p:xfrm>
        <a:graphic>
          <a:graphicData uri="http://schemas.openxmlformats.org/drawingml/2006/table">
            <a:tbl>
              <a:tblPr/>
              <a:tblGrid>
                <a:gridCol w="9902754"/>
                <a:gridCol w="4781721"/>
              </a:tblGrid>
              <a:tr h="959692">
                <a:tc>
                  <a:txBody>
                    <a:bodyPr anchor="t" rtlCol="false"/>
                    <a:lstStyle/>
                    <a:p>
                      <a:pPr algn="ctr">
                        <a:lnSpc>
                          <a:spcPts val="5114"/>
                        </a:lnSpc>
                        <a:defRPr/>
                      </a:pPr>
                      <a:r>
                        <a:rPr lang="en-US" sz="3652">
                          <a:solidFill>
                            <a:srgbClr val="491C2C"/>
                          </a:solidFill>
                          <a:latin typeface="Bree Serif"/>
                          <a:ea typeface="Bree Serif"/>
                          <a:cs typeface="Bree Serif"/>
                          <a:sym typeface="Bree Serif"/>
                        </a:rPr>
                        <a:t>CITY CATEGORY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PRIZES</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9692">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3</a:t>
                      </a:r>
                      <a:r>
                        <a:rPr lang="en-US" sz="3652">
                          <a:solidFill>
                            <a:srgbClr val="491C2C"/>
                          </a:solidFill>
                          <a:latin typeface="Bree Serif"/>
                          <a:ea typeface="Bree Serif"/>
                          <a:cs typeface="Bree Serif"/>
                          <a:sym typeface="Bree Serif"/>
                        </a:rPr>
                        <a:t>RD</a:t>
                      </a:r>
                      <a:r>
                        <a:rPr lang="en-US" sz="3652">
                          <a:solidFill>
                            <a:srgbClr val="491C2C"/>
                          </a:solidFill>
                          <a:latin typeface="Bree Serif"/>
                          <a:ea typeface="Bree Serif"/>
                          <a:cs typeface="Bree Serif"/>
                          <a:sym typeface="Bree Serif"/>
                        </a:rPr>
                        <a:t>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7</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64937">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2</a:t>
                      </a:r>
                      <a:r>
                        <a:rPr lang="en-US" sz="3652">
                          <a:solidFill>
                            <a:srgbClr val="491C2C"/>
                          </a:solidFill>
                          <a:latin typeface="Bree Serif"/>
                          <a:ea typeface="Bree Serif"/>
                          <a:cs typeface="Bree Serif"/>
                          <a:sym typeface="Bree Serif"/>
                        </a:rPr>
                        <a:t>ND</a:t>
                      </a:r>
                      <a:r>
                        <a:rPr lang="en-US" sz="3652">
                          <a:solidFill>
                            <a:srgbClr val="491C2C"/>
                          </a:solidFill>
                          <a:latin typeface="Bree Serif"/>
                          <a:ea typeface="Bree Serif"/>
                          <a:cs typeface="Bree Serif"/>
                          <a:sym typeface="Bree Serif"/>
                        </a:rPr>
                        <a:t>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8</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9692">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10</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bl>
          </a:graphicData>
        </a:graphic>
      </p:graphicFrame>
      <p:graphicFrame>
        <p:nvGraphicFramePr>
          <p:cNvPr name="Table 19" id="19"/>
          <p:cNvGraphicFramePr>
            <a:graphicFrameLocks noGrp="true"/>
          </p:cNvGraphicFramePr>
          <p:nvPr/>
        </p:nvGraphicFramePr>
        <p:xfrm>
          <a:off x="784955" y="4829016"/>
          <a:ext cx="15608034" cy="4787059"/>
        </p:xfrm>
        <a:graphic>
          <a:graphicData uri="http://schemas.openxmlformats.org/drawingml/2006/table">
            <a:tbl>
              <a:tblPr/>
              <a:tblGrid>
                <a:gridCol w="11696438"/>
                <a:gridCol w="3911597"/>
              </a:tblGrid>
              <a:tr h="956366">
                <a:tc>
                  <a:txBody>
                    <a:bodyPr anchor="t" rtlCol="false"/>
                    <a:lstStyle/>
                    <a:p>
                      <a:pPr algn="ctr">
                        <a:lnSpc>
                          <a:spcPts val="5114"/>
                        </a:lnSpc>
                        <a:defRPr/>
                      </a:pPr>
                      <a:r>
                        <a:rPr lang="en-US" sz="3652">
                          <a:solidFill>
                            <a:srgbClr val="491C2C"/>
                          </a:solidFill>
                          <a:latin typeface="Bree Serif"/>
                          <a:ea typeface="Bree Serif"/>
                          <a:cs typeface="Bree Serif"/>
                          <a:sym typeface="Bree Serif"/>
                        </a:rPr>
                        <a:t>MUNICIPALITY CATEGORY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PRIZES</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6366">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3</a:t>
                      </a:r>
                      <a:r>
                        <a:rPr lang="en-US" sz="3652">
                          <a:solidFill>
                            <a:srgbClr val="491C2C"/>
                          </a:solidFill>
                          <a:latin typeface="Bree Serif"/>
                          <a:ea typeface="Bree Serif"/>
                          <a:cs typeface="Bree Serif"/>
                          <a:sym typeface="Bree Serif"/>
                        </a:rPr>
                        <a:t>RD</a:t>
                      </a:r>
                      <a:r>
                        <a:rPr lang="en-US" sz="3652">
                          <a:solidFill>
                            <a:srgbClr val="491C2C"/>
                          </a:solidFill>
                          <a:latin typeface="Bree Serif"/>
                          <a:ea typeface="Bree Serif"/>
                          <a:cs typeface="Bree Serif"/>
                          <a:sym typeface="Bree Serif"/>
                        </a:rPr>
                        <a:t>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7</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61593">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2</a:t>
                      </a:r>
                      <a:r>
                        <a:rPr lang="en-US" sz="3652">
                          <a:solidFill>
                            <a:srgbClr val="491C2C"/>
                          </a:solidFill>
                          <a:latin typeface="Bree Serif"/>
                          <a:ea typeface="Bree Serif"/>
                          <a:cs typeface="Bree Serif"/>
                          <a:sym typeface="Bree Serif"/>
                        </a:rPr>
                        <a:t>ND</a:t>
                      </a:r>
                      <a:r>
                        <a:rPr lang="en-US" sz="3652">
                          <a:solidFill>
                            <a:srgbClr val="491C2C"/>
                          </a:solidFill>
                          <a:latin typeface="Bree Serif"/>
                          <a:ea typeface="Bree Serif"/>
                          <a:cs typeface="Bree Serif"/>
                          <a:sym typeface="Bree Serif"/>
                        </a:rPr>
                        <a:t>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8</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6366">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TOP PERFORMING LGU</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10</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6366">
                <a:tc>
                  <a:txBody>
                    <a:bodyPr anchor="t" rtlCol="false"/>
                    <a:lstStyle/>
                    <a:p>
                      <a:pPr algn="ctr">
                        <a:lnSpc>
                          <a:spcPts val="5114"/>
                        </a:lnSpc>
                        <a:defRPr/>
                      </a:pPr>
                      <a:r>
                        <a:rPr lang="en-US" sz="3652">
                          <a:solidFill>
                            <a:srgbClr val="491C2C"/>
                          </a:solidFill>
                          <a:latin typeface="Bree Serif"/>
                          <a:ea typeface="Bree Serif"/>
                          <a:cs typeface="Bree Serif"/>
                          <a:sym typeface="Bree Serif"/>
                        </a:rPr>
                        <a:t>Consolation/Performing LGU @ 30,000 each (5 LGUs)</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150,000.00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Freeform 15" id="15"/>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6" id="16"/>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7" id="17"/>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graphicFrame>
        <p:nvGraphicFramePr>
          <p:cNvPr name="Table 18" id="18"/>
          <p:cNvGraphicFramePr>
            <a:graphicFrameLocks noGrp="true"/>
          </p:cNvGraphicFramePr>
          <p:nvPr/>
        </p:nvGraphicFramePr>
        <p:xfrm>
          <a:off x="1028700" y="1704046"/>
          <a:ext cx="15163706" cy="5434688"/>
        </p:xfrm>
        <a:graphic>
          <a:graphicData uri="http://schemas.openxmlformats.org/drawingml/2006/table">
            <a:tbl>
              <a:tblPr/>
              <a:tblGrid>
                <a:gridCol w="12705122"/>
                <a:gridCol w="2458583"/>
              </a:tblGrid>
              <a:tr h="954759">
                <a:tc>
                  <a:txBody>
                    <a:bodyPr anchor="t" rtlCol="false"/>
                    <a:lstStyle/>
                    <a:p>
                      <a:pPr algn="ctr">
                        <a:lnSpc>
                          <a:spcPts val="5114"/>
                        </a:lnSpc>
                        <a:defRPr/>
                      </a:pPr>
                      <a:r>
                        <a:rPr lang="en-US" sz="3652">
                          <a:solidFill>
                            <a:srgbClr val="491C2C"/>
                          </a:solidFill>
                          <a:latin typeface="Bree Serif"/>
                          <a:ea typeface="Bree Serif"/>
                          <a:cs typeface="Bree Serif"/>
                          <a:sym typeface="Bree Serif"/>
                        </a:rPr>
                        <a:t>BARANGAY CATEGORY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PRIZES</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4759">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3</a:t>
                      </a:r>
                      <a:r>
                        <a:rPr lang="en-US" sz="3652">
                          <a:solidFill>
                            <a:srgbClr val="491C2C"/>
                          </a:solidFill>
                          <a:latin typeface="Bree Serif"/>
                          <a:ea typeface="Bree Serif"/>
                          <a:cs typeface="Bree Serif"/>
                          <a:sym typeface="Bree Serif"/>
                        </a:rPr>
                        <a:t>RD</a:t>
                      </a:r>
                      <a:r>
                        <a:rPr lang="en-US" sz="3652">
                          <a:solidFill>
                            <a:srgbClr val="491C2C"/>
                          </a:solidFill>
                          <a:latin typeface="Bree Serif"/>
                          <a:ea typeface="Bree Serif"/>
                          <a:cs typeface="Bree Serif"/>
                          <a:sym typeface="Bree Serif"/>
                        </a:rPr>
                        <a:t> TOP PERFORMING BARANGAY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4</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9977">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2</a:t>
                      </a:r>
                      <a:r>
                        <a:rPr lang="en-US" sz="3652">
                          <a:solidFill>
                            <a:srgbClr val="491C2C"/>
                          </a:solidFill>
                          <a:latin typeface="Bree Serif"/>
                          <a:ea typeface="Bree Serif"/>
                          <a:cs typeface="Bree Serif"/>
                          <a:sym typeface="Bree Serif"/>
                        </a:rPr>
                        <a:t>ND</a:t>
                      </a:r>
                      <a:r>
                        <a:rPr lang="en-US" sz="3652">
                          <a:solidFill>
                            <a:srgbClr val="491C2C"/>
                          </a:solidFill>
                          <a:latin typeface="Bree Serif"/>
                          <a:ea typeface="Bree Serif"/>
                          <a:cs typeface="Bree Serif"/>
                          <a:sym typeface="Bree Serif"/>
                        </a:rPr>
                        <a:t> TOP PERFORMING BARANGAY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5</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954759">
                <a:tc>
                  <a:txBody>
                    <a:bodyPr anchor="t" rtlCol="false"/>
                    <a:lstStyle/>
                    <a:p>
                      <a:pPr algn="ctr">
                        <a:lnSpc>
                          <a:spcPts val="5114"/>
                        </a:lnSpc>
                        <a:defRPr/>
                      </a:pPr>
                      <a:r>
                        <a:rPr lang="en-US" sz="3652">
                          <a:solidFill>
                            <a:srgbClr val="491C2C"/>
                          </a:solidFill>
                          <a:latin typeface="Bree Serif"/>
                          <a:ea typeface="Bree Serif"/>
                          <a:cs typeface="Bree Serif"/>
                          <a:sym typeface="Bree Serif"/>
                        </a:rPr>
                        <a:t>THE TOP PERFORMING BARANGAY</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7</a:t>
                      </a:r>
                      <a:r>
                        <a:rPr lang="en-US" sz="3652">
                          <a:solidFill>
                            <a:srgbClr val="491C2C"/>
                          </a:solidFill>
                          <a:latin typeface="Bree Serif"/>
                          <a:ea typeface="Bree Serif"/>
                          <a:cs typeface="Bree Serif"/>
                          <a:sym typeface="Bree Serif"/>
                        </a:rPr>
                        <a:t>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r h="1610432">
                <a:tc>
                  <a:txBody>
                    <a:bodyPr anchor="t" rtlCol="false"/>
                    <a:lstStyle/>
                    <a:p>
                      <a:pPr algn="ctr">
                        <a:lnSpc>
                          <a:spcPts val="5114"/>
                        </a:lnSpc>
                        <a:defRPr/>
                      </a:pPr>
                      <a:r>
                        <a:rPr lang="en-US" sz="3652">
                          <a:solidFill>
                            <a:srgbClr val="491C2C"/>
                          </a:solidFill>
                          <a:latin typeface="Bree Serif"/>
                          <a:ea typeface="Bree Serif"/>
                          <a:cs typeface="Bree Serif"/>
                          <a:sym typeface="Bree Serif"/>
                        </a:rPr>
                        <a:t>CONSOLATION/ PERFORMING BARANGAYS @ 20,000 EACH (7 BARANGAYS)</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c>
                  <a:txBody>
                    <a:bodyPr anchor="t" rtlCol="false"/>
                    <a:lstStyle/>
                    <a:p>
                      <a:pPr algn="ctr">
                        <a:lnSpc>
                          <a:spcPts val="5114"/>
                        </a:lnSpc>
                        <a:defRPr/>
                      </a:pPr>
                      <a:r>
                        <a:rPr lang="en-US" sz="3652">
                          <a:solidFill>
                            <a:srgbClr val="491C2C"/>
                          </a:solidFill>
                          <a:latin typeface="Bree Serif"/>
                          <a:ea typeface="Bree Serif"/>
                          <a:cs typeface="Bree Serif"/>
                          <a:sym typeface="Bree Serif"/>
                        </a:rPr>
                        <a:t>140,000.00</a:t>
                      </a:r>
                      <a:endParaRPr lang="en-US" sz="1100"/>
                    </a:p>
                  </a:txBody>
                  <a:tcPr marL="76200" marR="76200" marT="76200" marB="76200" anchor="ctr">
                    <a:lnL cmpd="sng" algn="ctr" cap="flat" w="66675">
                      <a:solidFill>
                        <a:srgbClr val="491C2C"/>
                      </a:solidFill>
                      <a:prstDash val="solid"/>
                      <a:round/>
                      <a:headEnd type="none" w="med" len="med"/>
                      <a:tailEnd type="none" w="med" len="med"/>
                    </a:lnL>
                    <a:lnR cmpd="sng" algn="ctr" cap="flat" w="66675">
                      <a:solidFill>
                        <a:srgbClr val="491C2C"/>
                      </a:solidFill>
                      <a:prstDash val="solid"/>
                      <a:round/>
                      <a:headEnd type="none" w="med" len="med"/>
                      <a:tailEnd type="none" w="med" len="med"/>
                    </a:lnR>
                    <a:lnT cmpd="sng" algn="ctr" cap="flat" w="66675">
                      <a:solidFill>
                        <a:srgbClr val="491C2C"/>
                      </a:solidFill>
                      <a:prstDash val="solid"/>
                      <a:round/>
                      <a:headEnd type="none" w="med" len="med"/>
                      <a:tailEnd type="none" w="med" len="med"/>
                    </a:lnT>
                    <a:lnB cmpd="sng" algn="ctr" cap="flat" w="66675">
                      <a:solidFill>
                        <a:srgbClr val="491C2C"/>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6503556">
            <a:off x="971981" y="-1940826"/>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5544607">
            <a:off x="14286249" y="7434120"/>
            <a:ext cx="2921996" cy="4452566"/>
          </a:xfrm>
          <a:custGeom>
            <a:avLst/>
            <a:gdLst/>
            <a:ahLst/>
            <a:cxnLst/>
            <a:rect r="r" b="b" t="t" l="l"/>
            <a:pathLst>
              <a:path h="4452566" w="2921996">
                <a:moveTo>
                  <a:pt x="0" y="0"/>
                </a:moveTo>
                <a:lnTo>
                  <a:pt x="2921996" y="0"/>
                </a:lnTo>
                <a:lnTo>
                  <a:pt x="2921996" y="4452565"/>
                </a:lnTo>
                <a:lnTo>
                  <a:pt x="0" y="4452565"/>
                </a:lnTo>
                <a:lnTo>
                  <a:pt x="0" y="0"/>
                </a:lnTo>
                <a:close/>
              </a:path>
            </a:pathLst>
          </a:custGeom>
          <a:blipFill>
            <a:blip r:embed="rId3"/>
            <a:stretch>
              <a:fillRect l="0" t="0" r="0" b="0"/>
            </a:stretch>
          </a:blipFill>
        </p:spPr>
      </p:sp>
      <p:sp>
        <p:nvSpPr>
          <p:cNvPr name="Freeform 4" id="4"/>
          <p:cNvSpPr/>
          <p:nvPr/>
        </p:nvSpPr>
        <p:spPr>
          <a:xfrm flipH="true" flipV="false" rot="-224682">
            <a:off x="16334687" y="5467433"/>
            <a:ext cx="2921996" cy="4452566"/>
          </a:xfrm>
          <a:custGeom>
            <a:avLst/>
            <a:gdLst/>
            <a:ahLst/>
            <a:cxnLst/>
            <a:rect r="r" b="b" t="t" l="l"/>
            <a:pathLst>
              <a:path h="4452566" w="2921996">
                <a:moveTo>
                  <a:pt x="2921996" y="0"/>
                </a:moveTo>
                <a:lnTo>
                  <a:pt x="0" y="0"/>
                </a:lnTo>
                <a:lnTo>
                  <a:pt x="0" y="4452565"/>
                </a:lnTo>
                <a:lnTo>
                  <a:pt x="2921996" y="4452565"/>
                </a:lnTo>
                <a:lnTo>
                  <a:pt x="2921996" y="0"/>
                </a:lnTo>
                <a:close/>
              </a:path>
            </a:pathLst>
          </a:custGeom>
          <a:blipFill>
            <a:blip r:embed="rId3"/>
            <a:stretch>
              <a:fillRect l="0" t="0" r="0" b="0"/>
            </a:stretch>
          </a:blipFill>
        </p:spPr>
      </p:sp>
      <p:sp>
        <p:nvSpPr>
          <p:cNvPr name="Freeform 5" id="5"/>
          <p:cNvSpPr/>
          <p:nvPr/>
        </p:nvSpPr>
        <p:spPr>
          <a:xfrm flipH="false" flipV="false" rot="-2132225">
            <a:off x="17579407" y="5187599"/>
            <a:ext cx="1744224" cy="1592552"/>
          </a:xfrm>
          <a:custGeom>
            <a:avLst/>
            <a:gdLst/>
            <a:ahLst/>
            <a:cxnLst/>
            <a:rect r="r" b="b" t="t" l="l"/>
            <a:pathLst>
              <a:path h="1592552" w="1744224">
                <a:moveTo>
                  <a:pt x="0" y="0"/>
                </a:moveTo>
                <a:lnTo>
                  <a:pt x="1744224" y="0"/>
                </a:lnTo>
                <a:lnTo>
                  <a:pt x="1744224" y="1592552"/>
                </a:lnTo>
                <a:lnTo>
                  <a:pt x="0" y="1592552"/>
                </a:lnTo>
                <a:lnTo>
                  <a:pt x="0" y="0"/>
                </a:lnTo>
                <a:close/>
              </a:path>
            </a:pathLst>
          </a:custGeom>
          <a:blipFill>
            <a:blip r:embed="rId4"/>
            <a:stretch>
              <a:fillRect l="0" t="0" r="0" b="0"/>
            </a:stretch>
          </a:blipFill>
        </p:spPr>
      </p:sp>
      <p:sp>
        <p:nvSpPr>
          <p:cNvPr name="Freeform 6" id="6"/>
          <p:cNvSpPr/>
          <p:nvPr/>
        </p:nvSpPr>
        <p:spPr>
          <a:xfrm flipH="true" flipV="false" rot="-4224349">
            <a:off x="17107718" y="7153727"/>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7" id="7"/>
          <p:cNvSpPr/>
          <p:nvPr/>
        </p:nvSpPr>
        <p:spPr>
          <a:xfrm flipH="false" flipV="false" rot="-3371741">
            <a:off x="16161690" y="6847959"/>
            <a:ext cx="1687410" cy="2910280"/>
          </a:xfrm>
          <a:custGeom>
            <a:avLst/>
            <a:gdLst/>
            <a:ahLst/>
            <a:cxnLst/>
            <a:rect r="r" b="b" t="t" l="l"/>
            <a:pathLst>
              <a:path h="2910280" w="1687410">
                <a:moveTo>
                  <a:pt x="0" y="0"/>
                </a:moveTo>
                <a:lnTo>
                  <a:pt x="1687410" y="0"/>
                </a:lnTo>
                <a:lnTo>
                  <a:pt x="1687410" y="2910280"/>
                </a:lnTo>
                <a:lnTo>
                  <a:pt x="0" y="2910280"/>
                </a:lnTo>
                <a:lnTo>
                  <a:pt x="0" y="0"/>
                </a:lnTo>
                <a:close/>
              </a:path>
            </a:pathLst>
          </a:custGeom>
          <a:blipFill>
            <a:blip r:embed="rId6"/>
            <a:stretch>
              <a:fillRect l="0" t="0" r="0" b="0"/>
            </a:stretch>
          </a:blipFill>
        </p:spPr>
      </p:sp>
      <p:sp>
        <p:nvSpPr>
          <p:cNvPr name="Freeform 8" id="8"/>
          <p:cNvSpPr/>
          <p:nvPr/>
        </p:nvSpPr>
        <p:spPr>
          <a:xfrm flipH="true" flipV="false" rot="2222277">
            <a:off x="16010360" y="8124522"/>
            <a:ext cx="3108618" cy="2980388"/>
          </a:xfrm>
          <a:custGeom>
            <a:avLst/>
            <a:gdLst/>
            <a:ahLst/>
            <a:cxnLst/>
            <a:rect r="r" b="b" t="t" l="l"/>
            <a:pathLst>
              <a:path h="2980388" w="3108618">
                <a:moveTo>
                  <a:pt x="3108618" y="0"/>
                </a:moveTo>
                <a:lnTo>
                  <a:pt x="0" y="0"/>
                </a:lnTo>
                <a:lnTo>
                  <a:pt x="0" y="2980387"/>
                </a:lnTo>
                <a:lnTo>
                  <a:pt x="3108618" y="2980387"/>
                </a:lnTo>
                <a:lnTo>
                  <a:pt x="3108618" y="0"/>
                </a:lnTo>
                <a:close/>
              </a:path>
            </a:pathLst>
          </a:custGeom>
          <a:blipFill>
            <a:blip r:embed="rId7"/>
            <a:stretch>
              <a:fillRect l="0" t="0" r="0" b="0"/>
            </a:stretch>
          </a:blipFill>
        </p:spPr>
      </p:sp>
      <p:sp>
        <p:nvSpPr>
          <p:cNvPr name="Freeform 9" id="9"/>
          <p:cNvSpPr/>
          <p:nvPr/>
        </p:nvSpPr>
        <p:spPr>
          <a:xfrm flipH="false" flipV="false" rot="-1812657">
            <a:off x="15425224" y="8614697"/>
            <a:ext cx="943388" cy="839615"/>
          </a:xfrm>
          <a:custGeom>
            <a:avLst/>
            <a:gdLst/>
            <a:ahLst/>
            <a:cxnLst/>
            <a:rect r="r" b="b" t="t" l="l"/>
            <a:pathLst>
              <a:path h="839615" w="943388">
                <a:moveTo>
                  <a:pt x="0" y="0"/>
                </a:moveTo>
                <a:lnTo>
                  <a:pt x="943388" y="0"/>
                </a:lnTo>
                <a:lnTo>
                  <a:pt x="943388" y="839615"/>
                </a:lnTo>
                <a:lnTo>
                  <a:pt x="0" y="839615"/>
                </a:lnTo>
                <a:lnTo>
                  <a:pt x="0" y="0"/>
                </a:lnTo>
                <a:close/>
              </a:path>
            </a:pathLst>
          </a:custGeom>
          <a:blipFill>
            <a:blip r:embed="rId8"/>
            <a:stretch>
              <a:fillRect l="0" t="0" r="0" b="0"/>
            </a:stretch>
          </a:blipFill>
        </p:spPr>
      </p:sp>
      <p:sp>
        <p:nvSpPr>
          <p:cNvPr name="Freeform 10" id="10"/>
          <p:cNvSpPr/>
          <p:nvPr/>
        </p:nvSpPr>
        <p:spPr>
          <a:xfrm flipH="true" flipV="false" rot="-4224349">
            <a:off x="17761367" y="4171102"/>
            <a:ext cx="1102654" cy="995145"/>
          </a:xfrm>
          <a:custGeom>
            <a:avLst/>
            <a:gdLst/>
            <a:ahLst/>
            <a:cxnLst/>
            <a:rect r="r" b="b" t="t" l="l"/>
            <a:pathLst>
              <a:path h="995145" w="1102654">
                <a:moveTo>
                  <a:pt x="1102654" y="0"/>
                </a:moveTo>
                <a:lnTo>
                  <a:pt x="0" y="0"/>
                </a:lnTo>
                <a:lnTo>
                  <a:pt x="0" y="995145"/>
                </a:lnTo>
                <a:lnTo>
                  <a:pt x="1102654" y="995145"/>
                </a:lnTo>
                <a:lnTo>
                  <a:pt x="1102654" y="0"/>
                </a:lnTo>
                <a:close/>
              </a:path>
            </a:pathLst>
          </a:custGeom>
          <a:blipFill>
            <a:blip r:embed="rId5"/>
            <a:stretch>
              <a:fillRect l="0" t="0" r="0" b="0"/>
            </a:stretch>
          </a:blipFill>
        </p:spPr>
      </p:sp>
      <p:sp>
        <p:nvSpPr>
          <p:cNvPr name="Freeform 11" id="11"/>
          <p:cNvSpPr/>
          <p:nvPr/>
        </p:nvSpPr>
        <p:spPr>
          <a:xfrm flipH="false" flipV="false" rot="7872842">
            <a:off x="1695664" y="245223"/>
            <a:ext cx="1116361" cy="3007033"/>
          </a:xfrm>
          <a:custGeom>
            <a:avLst/>
            <a:gdLst/>
            <a:ahLst/>
            <a:cxnLst/>
            <a:rect r="r" b="b" t="t" l="l"/>
            <a:pathLst>
              <a:path h="3007033" w="1116361">
                <a:moveTo>
                  <a:pt x="0" y="0"/>
                </a:moveTo>
                <a:lnTo>
                  <a:pt x="1116361" y="0"/>
                </a:lnTo>
                <a:lnTo>
                  <a:pt x="1116361" y="3007033"/>
                </a:lnTo>
                <a:lnTo>
                  <a:pt x="0" y="3007033"/>
                </a:lnTo>
                <a:lnTo>
                  <a:pt x="0" y="0"/>
                </a:lnTo>
                <a:close/>
              </a:path>
            </a:pathLst>
          </a:custGeom>
          <a:blipFill>
            <a:blip r:embed="rId9"/>
            <a:stretch>
              <a:fillRect l="0" t="0" r="0" b="0"/>
            </a:stretch>
          </a:blipFill>
        </p:spPr>
      </p:sp>
      <p:sp>
        <p:nvSpPr>
          <p:cNvPr name="Freeform 12" id="12"/>
          <p:cNvSpPr/>
          <p:nvPr/>
        </p:nvSpPr>
        <p:spPr>
          <a:xfrm flipH="true" flipV="false" rot="9529110">
            <a:off x="729205" y="2585276"/>
            <a:ext cx="1141111" cy="1968077"/>
          </a:xfrm>
          <a:custGeom>
            <a:avLst/>
            <a:gdLst/>
            <a:ahLst/>
            <a:cxnLst/>
            <a:rect r="r" b="b" t="t" l="l"/>
            <a:pathLst>
              <a:path h="1968077" w="1141111">
                <a:moveTo>
                  <a:pt x="1141111" y="0"/>
                </a:moveTo>
                <a:lnTo>
                  <a:pt x="0" y="0"/>
                </a:lnTo>
                <a:lnTo>
                  <a:pt x="0" y="1968077"/>
                </a:lnTo>
                <a:lnTo>
                  <a:pt x="1141111" y="1968077"/>
                </a:lnTo>
                <a:lnTo>
                  <a:pt x="1141111" y="0"/>
                </a:lnTo>
                <a:close/>
              </a:path>
            </a:pathLst>
          </a:custGeom>
          <a:blipFill>
            <a:blip r:embed="rId6"/>
            <a:stretch>
              <a:fillRect l="0" t="0" r="0" b="0"/>
            </a:stretch>
          </a:blipFill>
        </p:spPr>
      </p:sp>
      <p:sp>
        <p:nvSpPr>
          <p:cNvPr name="Freeform 13" id="13"/>
          <p:cNvSpPr/>
          <p:nvPr/>
        </p:nvSpPr>
        <p:spPr>
          <a:xfrm flipH="false" flipV="false" rot="9706055">
            <a:off x="-572265" y="2527258"/>
            <a:ext cx="1968922" cy="4134218"/>
          </a:xfrm>
          <a:custGeom>
            <a:avLst/>
            <a:gdLst/>
            <a:ahLst/>
            <a:cxnLst/>
            <a:rect r="r" b="b" t="t" l="l"/>
            <a:pathLst>
              <a:path h="4134218" w="1968922">
                <a:moveTo>
                  <a:pt x="0" y="0"/>
                </a:moveTo>
                <a:lnTo>
                  <a:pt x="1968921" y="0"/>
                </a:lnTo>
                <a:lnTo>
                  <a:pt x="1968921" y="4134218"/>
                </a:lnTo>
                <a:lnTo>
                  <a:pt x="0" y="4134218"/>
                </a:lnTo>
                <a:lnTo>
                  <a:pt x="0" y="0"/>
                </a:lnTo>
                <a:close/>
              </a:path>
            </a:pathLst>
          </a:custGeom>
          <a:blipFill>
            <a:blip r:embed="rId10"/>
            <a:stretch>
              <a:fillRect l="0" t="0" r="0" b="0"/>
            </a:stretch>
          </a:blipFill>
        </p:spPr>
      </p:sp>
      <p:sp>
        <p:nvSpPr>
          <p:cNvPr name="Freeform 14" id="14"/>
          <p:cNvSpPr/>
          <p:nvPr/>
        </p:nvSpPr>
        <p:spPr>
          <a:xfrm flipH="true" flipV="false" rot="7842194">
            <a:off x="1214592" y="-2000414"/>
            <a:ext cx="2078504" cy="3584802"/>
          </a:xfrm>
          <a:custGeom>
            <a:avLst/>
            <a:gdLst/>
            <a:ahLst/>
            <a:cxnLst/>
            <a:rect r="r" b="b" t="t" l="l"/>
            <a:pathLst>
              <a:path h="3584802" w="2078504">
                <a:moveTo>
                  <a:pt x="2078505" y="0"/>
                </a:moveTo>
                <a:lnTo>
                  <a:pt x="0" y="0"/>
                </a:lnTo>
                <a:lnTo>
                  <a:pt x="0" y="3584801"/>
                </a:lnTo>
                <a:lnTo>
                  <a:pt x="2078505" y="3584801"/>
                </a:lnTo>
                <a:lnTo>
                  <a:pt x="2078505" y="0"/>
                </a:lnTo>
                <a:close/>
              </a:path>
            </a:pathLst>
          </a:custGeom>
          <a:blipFill>
            <a:blip r:embed="rId6"/>
            <a:stretch>
              <a:fillRect l="0" t="0" r="0" b="0"/>
            </a:stretch>
          </a:blipFill>
        </p:spPr>
      </p:sp>
      <p:sp>
        <p:nvSpPr>
          <p:cNvPr name="TextBox 15" id="15"/>
          <p:cNvSpPr txBox="true"/>
          <p:nvPr/>
        </p:nvSpPr>
        <p:spPr>
          <a:xfrm rot="0">
            <a:off x="3907860" y="3011"/>
            <a:ext cx="10472280" cy="1314448"/>
          </a:xfrm>
          <a:prstGeom prst="rect">
            <a:avLst/>
          </a:prstGeom>
        </p:spPr>
        <p:txBody>
          <a:bodyPr anchor="t" rtlCol="false" tIns="0" lIns="0" bIns="0" rIns="0">
            <a:spAutoFit/>
          </a:bodyPr>
          <a:lstStyle/>
          <a:p>
            <a:pPr algn="ctr">
              <a:lnSpc>
                <a:spcPts val="10500"/>
              </a:lnSpc>
            </a:pPr>
            <a:r>
              <a:rPr lang="en-US" sz="7500" b="true">
                <a:solidFill>
                  <a:srgbClr val="491C2C"/>
                </a:solidFill>
                <a:latin typeface="The Seasons Bold"/>
                <a:ea typeface="The Seasons Bold"/>
                <a:cs typeface="The Seasons Bold"/>
                <a:sym typeface="The Seasons Bold"/>
              </a:rPr>
              <a:t>CRITERIA</a:t>
            </a:r>
          </a:p>
        </p:txBody>
      </p:sp>
      <p:sp>
        <p:nvSpPr>
          <p:cNvPr name="Freeform 16" id="16"/>
          <p:cNvSpPr/>
          <p:nvPr/>
        </p:nvSpPr>
        <p:spPr>
          <a:xfrm flipH="true" flipV="false" rot="8744153">
            <a:off x="623107" y="485629"/>
            <a:ext cx="1422025" cy="3551363"/>
          </a:xfrm>
          <a:custGeom>
            <a:avLst/>
            <a:gdLst/>
            <a:ahLst/>
            <a:cxnLst/>
            <a:rect r="r" b="b" t="t" l="l"/>
            <a:pathLst>
              <a:path h="3551363" w="1422025">
                <a:moveTo>
                  <a:pt x="1422025" y="0"/>
                </a:moveTo>
                <a:lnTo>
                  <a:pt x="0" y="0"/>
                </a:lnTo>
                <a:lnTo>
                  <a:pt x="0" y="3551363"/>
                </a:lnTo>
                <a:lnTo>
                  <a:pt x="1422025" y="3551363"/>
                </a:lnTo>
                <a:lnTo>
                  <a:pt x="1422025" y="0"/>
                </a:lnTo>
                <a:close/>
              </a:path>
            </a:pathLst>
          </a:custGeom>
          <a:blipFill>
            <a:blip r:embed="rId11"/>
            <a:stretch>
              <a:fillRect l="0" t="0" r="0" b="0"/>
            </a:stretch>
          </a:blipFill>
        </p:spPr>
      </p:sp>
      <p:sp>
        <p:nvSpPr>
          <p:cNvPr name="Freeform 17" id="17"/>
          <p:cNvSpPr/>
          <p:nvPr/>
        </p:nvSpPr>
        <p:spPr>
          <a:xfrm flipH="false" flipV="false" rot="2222277">
            <a:off x="-1001640" y="-808066"/>
            <a:ext cx="3573190" cy="3425796"/>
          </a:xfrm>
          <a:custGeom>
            <a:avLst/>
            <a:gdLst/>
            <a:ahLst/>
            <a:cxnLst/>
            <a:rect r="r" b="b" t="t" l="l"/>
            <a:pathLst>
              <a:path h="3425796" w="3573190">
                <a:moveTo>
                  <a:pt x="0" y="0"/>
                </a:moveTo>
                <a:lnTo>
                  <a:pt x="3573190" y="0"/>
                </a:lnTo>
                <a:lnTo>
                  <a:pt x="3573190" y="3425796"/>
                </a:lnTo>
                <a:lnTo>
                  <a:pt x="0" y="3425796"/>
                </a:lnTo>
                <a:lnTo>
                  <a:pt x="0" y="0"/>
                </a:lnTo>
                <a:close/>
              </a:path>
            </a:pathLst>
          </a:custGeom>
          <a:blipFill>
            <a:blip r:embed="rId7"/>
            <a:stretch>
              <a:fillRect l="0" t="0" r="0" b="0"/>
            </a:stretch>
          </a:blipFill>
        </p:spPr>
      </p:sp>
      <p:sp>
        <p:nvSpPr>
          <p:cNvPr name="Freeform 18" id="18"/>
          <p:cNvSpPr/>
          <p:nvPr/>
        </p:nvSpPr>
        <p:spPr>
          <a:xfrm flipH="false" flipV="false" rot="7769022">
            <a:off x="-664516" y="2405709"/>
            <a:ext cx="2034829" cy="1836433"/>
          </a:xfrm>
          <a:custGeom>
            <a:avLst/>
            <a:gdLst/>
            <a:ahLst/>
            <a:cxnLst/>
            <a:rect r="r" b="b" t="t" l="l"/>
            <a:pathLst>
              <a:path h="1836433" w="2034829">
                <a:moveTo>
                  <a:pt x="0" y="0"/>
                </a:moveTo>
                <a:lnTo>
                  <a:pt x="2034829" y="0"/>
                </a:lnTo>
                <a:lnTo>
                  <a:pt x="2034829" y="1836433"/>
                </a:lnTo>
                <a:lnTo>
                  <a:pt x="0" y="1836433"/>
                </a:lnTo>
                <a:lnTo>
                  <a:pt x="0" y="0"/>
                </a:lnTo>
                <a:close/>
              </a:path>
            </a:pathLst>
          </a:custGeom>
          <a:blipFill>
            <a:blip r:embed="rId5"/>
            <a:stretch>
              <a:fillRect l="0" t="0" r="0" b="0"/>
            </a:stretch>
          </a:blipFill>
        </p:spPr>
      </p:sp>
      <p:sp>
        <p:nvSpPr>
          <p:cNvPr name="TextBox 19" id="19"/>
          <p:cNvSpPr txBox="true"/>
          <p:nvPr/>
        </p:nvSpPr>
        <p:spPr>
          <a:xfrm rot="0">
            <a:off x="1673231" y="1267348"/>
            <a:ext cx="15004077" cy="6939044"/>
          </a:xfrm>
          <a:prstGeom prst="rect">
            <a:avLst/>
          </a:prstGeom>
        </p:spPr>
        <p:txBody>
          <a:bodyPr anchor="t" rtlCol="false" tIns="0" lIns="0" bIns="0" rIns="0">
            <a:spAutoFit/>
          </a:bodyPr>
          <a:lstStyle/>
          <a:p>
            <a:pPr algn="just">
              <a:lnSpc>
                <a:spcPts val="5507"/>
              </a:lnSpc>
            </a:pPr>
            <a:r>
              <a:rPr lang="en-US" sz="3934" b="true">
                <a:solidFill>
                  <a:srgbClr val="491C2C"/>
                </a:solidFill>
                <a:latin typeface="Glacial Indifference Bold"/>
                <a:ea typeface="Glacial Indifference Bold"/>
                <a:cs typeface="Glacial Indifference Bold"/>
                <a:sym typeface="Glacial Indifference Bold"/>
              </a:rPr>
              <a:t>T</a:t>
            </a:r>
            <a:r>
              <a:rPr lang="en-US" b="true" sz="3934">
                <a:solidFill>
                  <a:srgbClr val="491C2C"/>
                </a:solidFill>
                <a:latin typeface="Glacial Indifference Bold"/>
                <a:ea typeface="Glacial Indifference Bold"/>
                <a:cs typeface="Glacial Indifference Bold"/>
                <a:sym typeface="Glacial Indifference Bold"/>
              </a:rPr>
              <a:t>he incentives of the concern LGU and Barangay will be used for the operation of the Municipal/City Health Offices and Barangay Health Stations such as, but not limited to; Program Implementation Reviews, Coordination Meetings, and other related Health Expenditures.</a:t>
            </a:r>
          </a:p>
          <a:p>
            <a:pPr algn="just">
              <a:lnSpc>
                <a:spcPts val="5507"/>
              </a:lnSpc>
            </a:pPr>
          </a:p>
          <a:p>
            <a:pPr algn="just">
              <a:lnSpc>
                <a:spcPts val="5507"/>
              </a:lnSpc>
            </a:pPr>
            <a:r>
              <a:rPr lang="en-US" b="true" sz="3934">
                <a:solidFill>
                  <a:srgbClr val="491C2C"/>
                </a:solidFill>
                <a:latin typeface="Glacial Indifference Bold"/>
                <a:ea typeface="Glacial Indifference Bold"/>
                <a:cs typeface="Glacial Indifference Bold"/>
                <a:sym typeface="Glacial Indifference Bold"/>
              </a:rPr>
              <a:t>The source of fund for the prizes is from the Fixed Tranche and Health Governance Program of the Provincial Health Office of Davao del Norte.</a:t>
            </a:r>
          </a:p>
          <a:p>
            <a:pPr algn="just">
              <a:lnSpc>
                <a:spcPts val="5507"/>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sp>
        <p:nvSpPr>
          <p:cNvPr name="Freeform 2" id="2"/>
          <p:cNvSpPr/>
          <p:nvPr/>
        </p:nvSpPr>
        <p:spPr>
          <a:xfrm flipH="false" flipV="false" rot="7116937">
            <a:off x="2321728" y="-306884"/>
            <a:ext cx="15300576" cy="13214134"/>
          </a:xfrm>
          <a:custGeom>
            <a:avLst/>
            <a:gdLst/>
            <a:ahLst/>
            <a:cxnLst/>
            <a:rect r="r" b="b" t="t" l="l"/>
            <a:pathLst>
              <a:path h="13214134" w="15300576">
                <a:moveTo>
                  <a:pt x="0" y="0"/>
                </a:moveTo>
                <a:lnTo>
                  <a:pt x="15300576" y="0"/>
                </a:lnTo>
                <a:lnTo>
                  <a:pt x="15300576" y="13214134"/>
                </a:lnTo>
                <a:lnTo>
                  <a:pt x="0" y="13214134"/>
                </a:lnTo>
                <a:lnTo>
                  <a:pt x="0" y="0"/>
                </a:lnTo>
                <a:close/>
              </a:path>
            </a:pathLst>
          </a:custGeom>
          <a:blipFill>
            <a:blip r:embed="rId2">
              <a:alphaModFix amt="44999"/>
            </a:blip>
            <a:stretch>
              <a:fillRect l="0" t="0" r="0" b="0"/>
            </a:stretch>
          </a:blipFill>
        </p:spPr>
      </p:sp>
      <p:sp>
        <p:nvSpPr>
          <p:cNvPr name="Freeform 3" id="3"/>
          <p:cNvSpPr/>
          <p:nvPr/>
        </p:nvSpPr>
        <p:spPr>
          <a:xfrm flipH="false" flipV="false" rot="-9376643">
            <a:off x="14764049" y="2878570"/>
            <a:ext cx="3621607" cy="5518639"/>
          </a:xfrm>
          <a:custGeom>
            <a:avLst/>
            <a:gdLst/>
            <a:ahLst/>
            <a:cxnLst/>
            <a:rect r="r" b="b" t="t" l="l"/>
            <a:pathLst>
              <a:path h="5518639" w="3621607">
                <a:moveTo>
                  <a:pt x="0" y="0"/>
                </a:moveTo>
                <a:lnTo>
                  <a:pt x="3621607" y="0"/>
                </a:lnTo>
                <a:lnTo>
                  <a:pt x="3621607" y="5518639"/>
                </a:lnTo>
                <a:lnTo>
                  <a:pt x="0" y="5518639"/>
                </a:lnTo>
                <a:lnTo>
                  <a:pt x="0" y="0"/>
                </a:lnTo>
                <a:close/>
              </a:path>
            </a:pathLst>
          </a:custGeom>
          <a:blipFill>
            <a:blip r:embed="rId3"/>
            <a:stretch>
              <a:fillRect l="0" t="0" r="0" b="0"/>
            </a:stretch>
          </a:blipFill>
        </p:spPr>
      </p:sp>
      <p:sp>
        <p:nvSpPr>
          <p:cNvPr name="Freeform 4" id="4"/>
          <p:cNvSpPr/>
          <p:nvPr/>
        </p:nvSpPr>
        <p:spPr>
          <a:xfrm flipH="true" flipV="false" rot="-236511">
            <a:off x="16913196" y="739753"/>
            <a:ext cx="2123056" cy="4457860"/>
          </a:xfrm>
          <a:custGeom>
            <a:avLst/>
            <a:gdLst/>
            <a:ahLst/>
            <a:cxnLst/>
            <a:rect r="r" b="b" t="t" l="l"/>
            <a:pathLst>
              <a:path h="4457860" w="2123056">
                <a:moveTo>
                  <a:pt x="2123056" y="0"/>
                </a:moveTo>
                <a:lnTo>
                  <a:pt x="0" y="0"/>
                </a:lnTo>
                <a:lnTo>
                  <a:pt x="0" y="4457859"/>
                </a:lnTo>
                <a:lnTo>
                  <a:pt x="2123056" y="4457859"/>
                </a:lnTo>
                <a:lnTo>
                  <a:pt x="2123056" y="0"/>
                </a:lnTo>
                <a:close/>
              </a:path>
            </a:pathLst>
          </a:custGeom>
          <a:blipFill>
            <a:blip r:embed="rId4"/>
            <a:stretch>
              <a:fillRect l="0" t="0" r="0" b="0"/>
            </a:stretch>
          </a:blipFill>
        </p:spPr>
      </p:sp>
      <p:sp>
        <p:nvSpPr>
          <p:cNvPr name="Freeform 5" id="5"/>
          <p:cNvSpPr/>
          <p:nvPr/>
        </p:nvSpPr>
        <p:spPr>
          <a:xfrm flipH="true" flipV="false" rot="-2285368">
            <a:off x="15552244" y="2949946"/>
            <a:ext cx="1762541" cy="3039858"/>
          </a:xfrm>
          <a:custGeom>
            <a:avLst/>
            <a:gdLst/>
            <a:ahLst/>
            <a:cxnLst/>
            <a:rect r="r" b="b" t="t" l="l"/>
            <a:pathLst>
              <a:path h="3039858" w="1762541">
                <a:moveTo>
                  <a:pt x="1762541" y="0"/>
                </a:moveTo>
                <a:lnTo>
                  <a:pt x="0" y="0"/>
                </a:lnTo>
                <a:lnTo>
                  <a:pt x="0" y="3039859"/>
                </a:lnTo>
                <a:lnTo>
                  <a:pt x="1762541" y="3039859"/>
                </a:lnTo>
                <a:lnTo>
                  <a:pt x="1762541" y="0"/>
                </a:lnTo>
                <a:close/>
              </a:path>
            </a:pathLst>
          </a:custGeom>
          <a:blipFill>
            <a:blip r:embed="rId5"/>
            <a:stretch>
              <a:fillRect l="0" t="0" r="0" b="0"/>
            </a:stretch>
          </a:blipFill>
        </p:spPr>
      </p:sp>
      <p:sp>
        <p:nvSpPr>
          <p:cNvPr name="Freeform 6" id="6"/>
          <p:cNvSpPr/>
          <p:nvPr/>
        </p:nvSpPr>
        <p:spPr>
          <a:xfrm flipH="false" flipV="false" rot="-7648335">
            <a:off x="14696382" y="4317804"/>
            <a:ext cx="1205890" cy="1101030"/>
          </a:xfrm>
          <a:custGeom>
            <a:avLst/>
            <a:gdLst/>
            <a:ahLst/>
            <a:cxnLst/>
            <a:rect r="r" b="b" t="t" l="l"/>
            <a:pathLst>
              <a:path h="1101030" w="1205890">
                <a:moveTo>
                  <a:pt x="0" y="0"/>
                </a:moveTo>
                <a:lnTo>
                  <a:pt x="1205890" y="0"/>
                </a:lnTo>
                <a:lnTo>
                  <a:pt x="1205890" y="1101030"/>
                </a:lnTo>
                <a:lnTo>
                  <a:pt x="0" y="1101030"/>
                </a:lnTo>
                <a:lnTo>
                  <a:pt x="0" y="0"/>
                </a:lnTo>
                <a:close/>
              </a:path>
            </a:pathLst>
          </a:custGeom>
          <a:blipFill>
            <a:blip r:embed="rId6"/>
            <a:stretch>
              <a:fillRect l="0" t="0" r="0" b="0"/>
            </a:stretch>
          </a:blipFill>
        </p:spPr>
      </p:sp>
      <p:sp>
        <p:nvSpPr>
          <p:cNvPr name="Freeform 7" id="7"/>
          <p:cNvSpPr/>
          <p:nvPr/>
        </p:nvSpPr>
        <p:spPr>
          <a:xfrm flipH="true" flipV="false" rot="-1762803">
            <a:off x="15799213" y="1472640"/>
            <a:ext cx="1274596" cy="3183175"/>
          </a:xfrm>
          <a:custGeom>
            <a:avLst/>
            <a:gdLst/>
            <a:ahLst/>
            <a:cxnLst/>
            <a:rect r="r" b="b" t="t" l="l"/>
            <a:pathLst>
              <a:path h="3183175" w="1274596">
                <a:moveTo>
                  <a:pt x="1274596" y="0"/>
                </a:moveTo>
                <a:lnTo>
                  <a:pt x="0" y="0"/>
                </a:lnTo>
                <a:lnTo>
                  <a:pt x="0" y="3183175"/>
                </a:lnTo>
                <a:lnTo>
                  <a:pt x="1274596" y="3183175"/>
                </a:lnTo>
                <a:lnTo>
                  <a:pt x="1274596" y="0"/>
                </a:lnTo>
                <a:close/>
              </a:path>
            </a:pathLst>
          </a:custGeom>
          <a:blipFill>
            <a:blip r:embed="rId7"/>
            <a:stretch>
              <a:fillRect l="0" t="0" r="0" b="0"/>
            </a:stretch>
          </a:blipFill>
        </p:spPr>
      </p:sp>
      <p:sp>
        <p:nvSpPr>
          <p:cNvPr name="Freeform 8" id="8"/>
          <p:cNvSpPr/>
          <p:nvPr/>
        </p:nvSpPr>
        <p:spPr>
          <a:xfrm flipH="false" flipV="false" rot="-7862142">
            <a:off x="16310238" y="2344027"/>
            <a:ext cx="3141343" cy="3011763"/>
          </a:xfrm>
          <a:custGeom>
            <a:avLst/>
            <a:gdLst/>
            <a:ahLst/>
            <a:cxnLst/>
            <a:rect r="r" b="b" t="t" l="l"/>
            <a:pathLst>
              <a:path h="3011763" w="3141343">
                <a:moveTo>
                  <a:pt x="0" y="0"/>
                </a:moveTo>
                <a:lnTo>
                  <a:pt x="3141343" y="0"/>
                </a:lnTo>
                <a:lnTo>
                  <a:pt x="3141343" y="3011762"/>
                </a:lnTo>
                <a:lnTo>
                  <a:pt x="0" y="3011762"/>
                </a:lnTo>
                <a:lnTo>
                  <a:pt x="0" y="0"/>
                </a:lnTo>
                <a:close/>
              </a:path>
            </a:pathLst>
          </a:custGeom>
          <a:blipFill>
            <a:blip r:embed="rId8"/>
            <a:stretch>
              <a:fillRect l="0" t="0" r="0" b="0"/>
            </a:stretch>
          </a:blipFill>
        </p:spPr>
      </p:sp>
      <p:sp>
        <p:nvSpPr>
          <p:cNvPr name="Freeform 9" id="9"/>
          <p:cNvSpPr/>
          <p:nvPr/>
        </p:nvSpPr>
        <p:spPr>
          <a:xfrm flipH="false" flipV="false" rot="-9481185">
            <a:off x="15795513" y="6814460"/>
            <a:ext cx="1203754" cy="3242434"/>
          </a:xfrm>
          <a:custGeom>
            <a:avLst/>
            <a:gdLst/>
            <a:ahLst/>
            <a:cxnLst/>
            <a:rect r="r" b="b" t="t" l="l"/>
            <a:pathLst>
              <a:path h="3242434" w="1203754">
                <a:moveTo>
                  <a:pt x="0" y="0"/>
                </a:moveTo>
                <a:lnTo>
                  <a:pt x="1203753" y="0"/>
                </a:lnTo>
                <a:lnTo>
                  <a:pt x="1203753" y="3242434"/>
                </a:lnTo>
                <a:lnTo>
                  <a:pt x="0" y="3242434"/>
                </a:lnTo>
                <a:lnTo>
                  <a:pt x="0" y="0"/>
                </a:lnTo>
                <a:close/>
              </a:path>
            </a:pathLst>
          </a:custGeom>
          <a:blipFill>
            <a:blip r:embed="rId9"/>
            <a:stretch>
              <a:fillRect l="0" t="0" r="0" b="0"/>
            </a:stretch>
          </a:blipFill>
        </p:spPr>
      </p:sp>
      <p:sp>
        <p:nvSpPr>
          <p:cNvPr name="Freeform 10" id="10"/>
          <p:cNvSpPr/>
          <p:nvPr/>
        </p:nvSpPr>
        <p:spPr>
          <a:xfrm flipH="false" flipV="false" rot="-6602249">
            <a:off x="16783849" y="7327576"/>
            <a:ext cx="2194122" cy="1980195"/>
          </a:xfrm>
          <a:custGeom>
            <a:avLst/>
            <a:gdLst/>
            <a:ahLst/>
            <a:cxnLst/>
            <a:rect r="r" b="b" t="t" l="l"/>
            <a:pathLst>
              <a:path h="1980195" w="2194122">
                <a:moveTo>
                  <a:pt x="0" y="0"/>
                </a:moveTo>
                <a:lnTo>
                  <a:pt x="2194122" y="0"/>
                </a:lnTo>
                <a:lnTo>
                  <a:pt x="2194122" y="1980196"/>
                </a:lnTo>
                <a:lnTo>
                  <a:pt x="0" y="1980196"/>
                </a:lnTo>
                <a:lnTo>
                  <a:pt x="0" y="0"/>
                </a:lnTo>
                <a:close/>
              </a:path>
            </a:pathLst>
          </a:custGeom>
          <a:blipFill>
            <a:blip r:embed="rId10"/>
            <a:stretch>
              <a:fillRect l="0" t="0" r="0" b="0"/>
            </a:stretch>
          </a:blipFill>
        </p:spPr>
      </p:sp>
      <p:sp>
        <p:nvSpPr>
          <p:cNvPr name="Freeform 11" id="11"/>
          <p:cNvSpPr/>
          <p:nvPr/>
        </p:nvSpPr>
        <p:spPr>
          <a:xfrm flipH="false" flipV="false" rot="-8577722">
            <a:off x="15824180" y="4235929"/>
            <a:ext cx="3852912" cy="3693979"/>
          </a:xfrm>
          <a:custGeom>
            <a:avLst/>
            <a:gdLst/>
            <a:ahLst/>
            <a:cxnLst/>
            <a:rect r="r" b="b" t="t" l="l"/>
            <a:pathLst>
              <a:path h="3693979" w="3852912">
                <a:moveTo>
                  <a:pt x="0" y="0"/>
                </a:moveTo>
                <a:lnTo>
                  <a:pt x="3852912" y="0"/>
                </a:lnTo>
                <a:lnTo>
                  <a:pt x="3852912" y="3693979"/>
                </a:lnTo>
                <a:lnTo>
                  <a:pt x="0" y="3693979"/>
                </a:lnTo>
                <a:lnTo>
                  <a:pt x="0" y="0"/>
                </a:lnTo>
                <a:close/>
              </a:path>
            </a:pathLst>
          </a:custGeom>
          <a:blipFill>
            <a:blip r:embed="rId8"/>
            <a:stretch>
              <a:fillRect l="0" t="0" r="0" b="0"/>
            </a:stretch>
          </a:blipFill>
        </p:spPr>
      </p:sp>
      <p:sp>
        <p:nvSpPr>
          <p:cNvPr name="Freeform 12" id="12"/>
          <p:cNvSpPr/>
          <p:nvPr/>
        </p:nvSpPr>
        <p:spPr>
          <a:xfrm flipH="false" flipV="false" rot="-9828317">
            <a:off x="15812758" y="3834032"/>
            <a:ext cx="1169262" cy="1040644"/>
          </a:xfrm>
          <a:custGeom>
            <a:avLst/>
            <a:gdLst/>
            <a:ahLst/>
            <a:cxnLst/>
            <a:rect r="r" b="b" t="t" l="l"/>
            <a:pathLst>
              <a:path h="1040644" w="1169262">
                <a:moveTo>
                  <a:pt x="0" y="0"/>
                </a:moveTo>
                <a:lnTo>
                  <a:pt x="1169263" y="0"/>
                </a:lnTo>
                <a:lnTo>
                  <a:pt x="1169263" y="1040643"/>
                </a:lnTo>
                <a:lnTo>
                  <a:pt x="0" y="1040643"/>
                </a:lnTo>
                <a:lnTo>
                  <a:pt x="0" y="0"/>
                </a:lnTo>
                <a:close/>
              </a:path>
            </a:pathLst>
          </a:custGeom>
          <a:blipFill>
            <a:blip r:embed="rId11"/>
            <a:stretch>
              <a:fillRect l="0" t="0" r="0" b="0"/>
            </a:stretch>
          </a:blipFill>
        </p:spPr>
      </p:sp>
      <p:sp>
        <p:nvSpPr>
          <p:cNvPr name="Freeform 13" id="13"/>
          <p:cNvSpPr/>
          <p:nvPr/>
        </p:nvSpPr>
        <p:spPr>
          <a:xfrm flipH="false" flipV="false" rot="-680782">
            <a:off x="249653" y="4717523"/>
            <a:ext cx="3291893" cy="5016219"/>
          </a:xfrm>
          <a:custGeom>
            <a:avLst/>
            <a:gdLst/>
            <a:ahLst/>
            <a:cxnLst/>
            <a:rect r="r" b="b" t="t" l="l"/>
            <a:pathLst>
              <a:path h="5016219" w="3291893">
                <a:moveTo>
                  <a:pt x="0" y="0"/>
                </a:moveTo>
                <a:lnTo>
                  <a:pt x="3291894" y="0"/>
                </a:lnTo>
                <a:lnTo>
                  <a:pt x="3291894" y="5016218"/>
                </a:lnTo>
                <a:lnTo>
                  <a:pt x="0" y="5016218"/>
                </a:lnTo>
                <a:lnTo>
                  <a:pt x="0" y="0"/>
                </a:lnTo>
                <a:close/>
              </a:path>
            </a:pathLst>
          </a:custGeom>
          <a:blipFill>
            <a:blip r:embed="rId3"/>
            <a:stretch>
              <a:fillRect l="0" t="0" r="0" b="0"/>
            </a:stretch>
          </a:blipFill>
        </p:spPr>
      </p:sp>
      <p:sp>
        <p:nvSpPr>
          <p:cNvPr name="Freeform 14" id="14"/>
          <p:cNvSpPr/>
          <p:nvPr/>
        </p:nvSpPr>
        <p:spPr>
          <a:xfrm flipH="true" flipV="false" rot="5590133">
            <a:off x="2423044" y="8435421"/>
            <a:ext cx="1646783" cy="3457812"/>
          </a:xfrm>
          <a:custGeom>
            <a:avLst/>
            <a:gdLst/>
            <a:ahLst/>
            <a:cxnLst/>
            <a:rect r="r" b="b" t="t" l="l"/>
            <a:pathLst>
              <a:path h="3457812" w="1646783">
                <a:moveTo>
                  <a:pt x="1646783" y="0"/>
                </a:moveTo>
                <a:lnTo>
                  <a:pt x="0" y="0"/>
                </a:lnTo>
                <a:lnTo>
                  <a:pt x="0" y="3457812"/>
                </a:lnTo>
                <a:lnTo>
                  <a:pt x="1646783" y="3457812"/>
                </a:lnTo>
                <a:lnTo>
                  <a:pt x="1646783" y="0"/>
                </a:lnTo>
                <a:close/>
              </a:path>
            </a:pathLst>
          </a:custGeom>
          <a:blipFill>
            <a:blip r:embed="rId4"/>
            <a:stretch>
              <a:fillRect l="0" t="0" r="0" b="0"/>
            </a:stretch>
          </a:blipFill>
        </p:spPr>
      </p:sp>
      <p:sp>
        <p:nvSpPr>
          <p:cNvPr name="Freeform 15" id="15"/>
          <p:cNvSpPr/>
          <p:nvPr/>
        </p:nvSpPr>
        <p:spPr>
          <a:xfrm flipH="true" flipV="false" rot="6410492">
            <a:off x="1809709" y="6639205"/>
            <a:ext cx="1602078" cy="2763107"/>
          </a:xfrm>
          <a:custGeom>
            <a:avLst/>
            <a:gdLst/>
            <a:ahLst/>
            <a:cxnLst/>
            <a:rect r="r" b="b" t="t" l="l"/>
            <a:pathLst>
              <a:path h="2763107" w="1602078">
                <a:moveTo>
                  <a:pt x="1602078" y="0"/>
                </a:moveTo>
                <a:lnTo>
                  <a:pt x="0" y="0"/>
                </a:lnTo>
                <a:lnTo>
                  <a:pt x="0" y="2763107"/>
                </a:lnTo>
                <a:lnTo>
                  <a:pt x="1602078" y="2763107"/>
                </a:lnTo>
                <a:lnTo>
                  <a:pt x="1602078" y="0"/>
                </a:lnTo>
                <a:close/>
              </a:path>
            </a:pathLst>
          </a:custGeom>
          <a:blipFill>
            <a:blip r:embed="rId5"/>
            <a:stretch>
              <a:fillRect l="0" t="0" r="0" b="0"/>
            </a:stretch>
          </a:blipFill>
        </p:spPr>
      </p:sp>
      <p:sp>
        <p:nvSpPr>
          <p:cNvPr name="Freeform 16" id="16"/>
          <p:cNvSpPr/>
          <p:nvPr/>
        </p:nvSpPr>
        <p:spPr>
          <a:xfrm flipH="false" flipV="false" rot="1047525">
            <a:off x="2698383" y="6631608"/>
            <a:ext cx="1096105" cy="1000792"/>
          </a:xfrm>
          <a:custGeom>
            <a:avLst/>
            <a:gdLst/>
            <a:ahLst/>
            <a:cxnLst/>
            <a:rect r="r" b="b" t="t" l="l"/>
            <a:pathLst>
              <a:path h="1000792" w="1096105">
                <a:moveTo>
                  <a:pt x="0" y="0"/>
                </a:moveTo>
                <a:lnTo>
                  <a:pt x="1096105" y="0"/>
                </a:lnTo>
                <a:lnTo>
                  <a:pt x="1096105" y="1000792"/>
                </a:lnTo>
                <a:lnTo>
                  <a:pt x="0" y="1000792"/>
                </a:lnTo>
                <a:lnTo>
                  <a:pt x="0" y="0"/>
                </a:lnTo>
                <a:close/>
              </a:path>
            </a:pathLst>
          </a:custGeom>
          <a:blipFill>
            <a:blip r:embed="rId6"/>
            <a:stretch>
              <a:fillRect l="0" t="0" r="0" b="0"/>
            </a:stretch>
          </a:blipFill>
        </p:spPr>
      </p:sp>
      <p:sp>
        <p:nvSpPr>
          <p:cNvPr name="Freeform 17" id="17"/>
          <p:cNvSpPr/>
          <p:nvPr/>
        </p:nvSpPr>
        <p:spPr>
          <a:xfrm flipH="true" flipV="false" rot="6933057">
            <a:off x="2763345" y="7621364"/>
            <a:ext cx="1158556" cy="2893376"/>
          </a:xfrm>
          <a:custGeom>
            <a:avLst/>
            <a:gdLst/>
            <a:ahLst/>
            <a:cxnLst/>
            <a:rect r="r" b="b" t="t" l="l"/>
            <a:pathLst>
              <a:path h="2893376" w="1158556">
                <a:moveTo>
                  <a:pt x="1158557" y="0"/>
                </a:moveTo>
                <a:lnTo>
                  <a:pt x="0" y="0"/>
                </a:lnTo>
                <a:lnTo>
                  <a:pt x="0" y="2893376"/>
                </a:lnTo>
                <a:lnTo>
                  <a:pt x="1158557" y="2893376"/>
                </a:lnTo>
                <a:lnTo>
                  <a:pt x="1158557" y="0"/>
                </a:lnTo>
                <a:close/>
              </a:path>
            </a:pathLst>
          </a:custGeom>
          <a:blipFill>
            <a:blip r:embed="rId7"/>
            <a:stretch>
              <a:fillRect l="0" t="0" r="0" b="0"/>
            </a:stretch>
          </a:blipFill>
        </p:spPr>
      </p:sp>
      <p:sp>
        <p:nvSpPr>
          <p:cNvPr name="Freeform 18" id="18"/>
          <p:cNvSpPr/>
          <p:nvPr/>
        </p:nvSpPr>
        <p:spPr>
          <a:xfrm flipH="false" flipV="false" rot="833718">
            <a:off x="430065" y="7869105"/>
            <a:ext cx="2855353" cy="2737570"/>
          </a:xfrm>
          <a:custGeom>
            <a:avLst/>
            <a:gdLst/>
            <a:ahLst/>
            <a:cxnLst/>
            <a:rect r="r" b="b" t="t" l="l"/>
            <a:pathLst>
              <a:path h="2737570" w="2855353">
                <a:moveTo>
                  <a:pt x="0" y="0"/>
                </a:moveTo>
                <a:lnTo>
                  <a:pt x="2855353" y="0"/>
                </a:lnTo>
                <a:lnTo>
                  <a:pt x="2855353" y="2737569"/>
                </a:lnTo>
                <a:lnTo>
                  <a:pt x="0" y="2737569"/>
                </a:lnTo>
                <a:lnTo>
                  <a:pt x="0" y="0"/>
                </a:lnTo>
                <a:close/>
              </a:path>
            </a:pathLst>
          </a:custGeom>
          <a:blipFill>
            <a:blip r:embed="rId8"/>
            <a:stretch>
              <a:fillRect l="0" t="0" r="0" b="0"/>
            </a:stretch>
          </a:blipFill>
        </p:spPr>
      </p:sp>
      <p:sp>
        <p:nvSpPr>
          <p:cNvPr name="Freeform 19" id="19"/>
          <p:cNvSpPr/>
          <p:nvPr/>
        </p:nvSpPr>
        <p:spPr>
          <a:xfrm flipH="false" flipV="false" rot="-785324">
            <a:off x="19387" y="3577923"/>
            <a:ext cx="1094163" cy="2947240"/>
          </a:xfrm>
          <a:custGeom>
            <a:avLst/>
            <a:gdLst/>
            <a:ahLst/>
            <a:cxnLst/>
            <a:rect r="r" b="b" t="t" l="l"/>
            <a:pathLst>
              <a:path h="2947240" w="1094163">
                <a:moveTo>
                  <a:pt x="0" y="0"/>
                </a:moveTo>
                <a:lnTo>
                  <a:pt x="1094163" y="0"/>
                </a:lnTo>
                <a:lnTo>
                  <a:pt x="1094163" y="2947241"/>
                </a:lnTo>
                <a:lnTo>
                  <a:pt x="0" y="2947241"/>
                </a:lnTo>
                <a:lnTo>
                  <a:pt x="0" y="0"/>
                </a:lnTo>
                <a:close/>
              </a:path>
            </a:pathLst>
          </a:custGeom>
          <a:blipFill>
            <a:blip r:embed="rId9"/>
            <a:stretch>
              <a:fillRect l="0" t="0" r="0" b="0"/>
            </a:stretch>
          </a:blipFill>
        </p:spPr>
      </p:sp>
      <p:sp>
        <p:nvSpPr>
          <p:cNvPr name="Freeform 20" id="20"/>
          <p:cNvSpPr/>
          <p:nvPr/>
        </p:nvSpPr>
        <p:spPr>
          <a:xfrm flipH="false" flipV="false" rot="2093611">
            <a:off x="-542347" y="8945787"/>
            <a:ext cx="1994368" cy="1799917"/>
          </a:xfrm>
          <a:custGeom>
            <a:avLst/>
            <a:gdLst/>
            <a:ahLst/>
            <a:cxnLst/>
            <a:rect r="r" b="b" t="t" l="l"/>
            <a:pathLst>
              <a:path h="1799917" w="1994368">
                <a:moveTo>
                  <a:pt x="0" y="0"/>
                </a:moveTo>
                <a:lnTo>
                  <a:pt x="1994368" y="0"/>
                </a:lnTo>
                <a:lnTo>
                  <a:pt x="1994368" y="1799916"/>
                </a:lnTo>
                <a:lnTo>
                  <a:pt x="0" y="1799916"/>
                </a:lnTo>
                <a:lnTo>
                  <a:pt x="0" y="0"/>
                </a:lnTo>
                <a:close/>
              </a:path>
            </a:pathLst>
          </a:custGeom>
          <a:blipFill>
            <a:blip r:embed="rId10"/>
            <a:stretch>
              <a:fillRect l="0" t="0" r="0" b="0"/>
            </a:stretch>
          </a:blipFill>
        </p:spPr>
      </p:sp>
      <p:sp>
        <p:nvSpPr>
          <p:cNvPr name="Freeform 21" id="21"/>
          <p:cNvSpPr/>
          <p:nvPr/>
        </p:nvSpPr>
        <p:spPr>
          <a:xfrm flipH="false" flipV="false" rot="118138">
            <a:off x="-1184602" y="6223922"/>
            <a:ext cx="3502140" cy="3357677"/>
          </a:xfrm>
          <a:custGeom>
            <a:avLst/>
            <a:gdLst/>
            <a:ahLst/>
            <a:cxnLst/>
            <a:rect r="r" b="b" t="t" l="l"/>
            <a:pathLst>
              <a:path h="3357677" w="3502140">
                <a:moveTo>
                  <a:pt x="0" y="0"/>
                </a:moveTo>
                <a:lnTo>
                  <a:pt x="3502140" y="0"/>
                </a:lnTo>
                <a:lnTo>
                  <a:pt x="3502140" y="3357677"/>
                </a:lnTo>
                <a:lnTo>
                  <a:pt x="0" y="3357677"/>
                </a:lnTo>
                <a:lnTo>
                  <a:pt x="0" y="0"/>
                </a:lnTo>
                <a:close/>
              </a:path>
            </a:pathLst>
          </a:custGeom>
          <a:blipFill>
            <a:blip r:embed="rId8"/>
            <a:stretch>
              <a:fillRect l="0" t="0" r="0" b="0"/>
            </a:stretch>
          </a:blipFill>
        </p:spPr>
      </p:sp>
      <p:sp>
        <p:nvSpPr>
          <p:cNvPr name="Freeform 22" id="22"/>
          <p:cNvSpPr/>
          <p:nvPr/>
        </p:nvSpPr>
        <p:spPr>
          <a:xfrm flipH="false" flipV="false" rot="-1132456">
            <a:off x="2166549" y="7614883"/>
            <a:ext cx="1062812" cy="945903"/>
          </a:xfrm>
          <a:custGeom>
            <a:avLst/>
            <a:gdLst/>
            <a:ahLst/>
            <a:cxnLst/>
            <a:rect r="r" b="b" t="t" l="l"/>
            <a:pathLst>
              <a:path h="945903" w="1062812">
                <a:moveTo>
                  <a:pt x="0" y="0"/>
                </a:moveTo>
                <a:lnTo>
                  <a:pt x="1062812" y="0"/>
                </a:lnTo>
                <a:lnTo>
                  <a:pt x="1062812" y="945903"/>
                </a:lnTo>
                <a:lnTo>
                  <a:pt x="0" y="945903"/>
                </a:lnTo>
                <a:lnTo>
                  <a:pt x="0" y="0"/>
                </a:lnTo>
                <a:close/>
              </a:path>
            </a:pathLst>
          </a:custGeom>
          <a:blipFill>
            <a:blip r:embed="rId11"/>
            <a:stretch>
              <a:fillRect l="0" t="0" r="0" b="0"/>
            </a:stretch>
          </a:blipFill>
        </p:spPr>
      </p:sp>
      <p:sp>
        <p:nvSpPr>
          <p:cNvPr name="Freeform 23" id="23"/>
          <p:cNvSpPr/>
          <p:nvPr/>
        </p:nvSpPr>
        <p:spPr>
          <a:xfrm flipH="false" flipV="false" rot="2808779">
            <a:off x="-544837" y="5034339"/>
            <a:ext cx="1096105" cy="1000792"/>
          </a:xfrm>
          <a:custGeom>
            <a:avLst/>
            <a:gdLst/>
            <a:ahLst/>
            <a:cxnLst/>
            <a:rect r="r" b="b" t="t" l="l"/>
            <a:pathLst>
              <a:path h="1000792" w="1096105">
                <a:moveTo>
                  <a:pt x="0" y="0"/>
                </a:moveTo>
                <a:lnTo>
                  <a:pt x="1096106" y="0"/>
                </a:lnTo>
                <a:lnTo>
                  <a:pt x="1096106" y="1000791"/>
                </a:lnTo>
                <a:lnTo>
                  <a:pt x="0" y="1000791"/>
                </a:lnTo>
                <a:lnTo>
                  <a:pt x="0" y="0"/>
                </a:lnTo>
                <a:close/>
              </a:path>
            </a:pathLst>
          </a:custGeom>
          <a:blipFill>
            <a:blip r:embed="rId6"/>
            <a:stretch>
              <a:fillRect l="0" t="0" r="0" b="0"/>
            </a:stretch>
          </a:blipFill>
        </p:spPr>
      </p:sp>
      <p:sp>
        <p:nvSpPr>
          <p:cNvPr name="TextBox 24" id="24"/>
          <p:cNvSpPr txBox="true"/>
          <p:nvPr/>
        </p:nvSpPr>
        <p:spPr>
          <a:xfrm rot="0">
            <a:off x="4002823" y="1509484"/>
            <a:ext cx="10472280" cy="4900275"/>
          </a:xfrm>
          <a:prstGeom prst="rect">
            <a:avLst/>
          </a:prstGeom>
        </p:spPr>
        <p:txBody>
          <a:bodyPr anchor="t" rtlCol="false" tIns="0" lIns="0" bIns="0" rIns="0">
            <a:spAutoFit/>
          </a:bodyPr>
          <a:lstStyle/>
          <a:p>
            <a:pPr algn="ctr">
              <a:lnSpc>
                <a:spcPts val="12881"/>
              </a:lnSpc>
            </a:pPr>
            <a:r>
              <a:rPr lang="en-US" sz="9200" b="true">
                <a:solidFill>
                  <a:srgbClr val="491C2C"/>
                </a:solidFill>
                <a:latin typeface="The Seasons Bold"/>
                <a:ea typeface="The Seasons Bold"/>
                <a:cs typeface="The Seasons Bold"/>
                <a:sym typeface="The Seasons Bold"/>
              </a:rPr>
              <a:t>Thank you</a:t>
            </a:r>
          </a:p>
          <a:p>
            <a:pPr algn="ctr">
              <a:lnSpc>
                <a:spcPts val="12881"/>
              </a:lnSpc>
            </a:pPr>
            <a:r>
              <a:rPr lang="en-US" sz="9200" b="true">
                <a:solidFill>
                  <a:srgbClr val="491C2C"/>
                </a:solidFill>
                <a:latin typeface="The Seasons Bold"/>
                <a:ea typeface="The Seasons Bold"/>
                <a:cs typeface="The Seasons Bold"/>
                <a:sym typeface="The Seasons Bold"/>
              </a:rPr>
              <a:t>and</a:t>
            </a:r>
          </a:p>
          <a:p>
            <a:pPr algn="ctr">
              <a:lnSpc>
                <a:spcPts val="12881"/>
              </a:lnSpc>
            </a:pPr>
            <a:r>
              <a:rPr lang="en-US" sz="9200" b="true">
                <a:solidFill>
                  <a:srgbClr val="491C2C"/>
                </a:solidFill>
                <a:latin typeface="The Seasons Bold"/>
                <a:ea typeface="The Seasons Bold"/>
                <a:cs typeface="The Seasons Bold"/>
                <a:sym typeface="The Seasons Bold"/>
              </a:rPr>
              <a:t>Congratulations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DAHYoOPw2Ug</dc:identifier>
  <dcterms:modified xsi:type="dcterms:W3CDTF">2011-08-01T06:04:30Z</dcterms:modified>
  <cp:revision>1</cp:revision>
  <dc:title>CRITERIA HEALTH SUMMIT 2026</dc:title>
</cp:coreProperties>
</file>