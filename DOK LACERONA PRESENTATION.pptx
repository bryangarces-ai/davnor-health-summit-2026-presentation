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91" r:id="rId4"/>
    <p:sldId id="284" r:id="rId5"/>
    <p:sldId id="316" r:id="rId6"/>
    <p:sldId id="351" r:id="rId7"/>
    <p:sldId id="353" r:id="rId8"/>
    <p:sldId id="354" r:id="rId9"/>
    <p:sldId id="257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265" r:id="rId20"/>
    <p:sldId id="364" r:id="rId21"/>
    <p:sldId id="365" r:id="rId22"/>
    <p:sldId id="270" r:id="rId23"/>
    <p:sldId id="366" r:id="rId24"/>
    <p:sldId id="367" r:id="rId25"/>
    <p:sldId id="368" r:id="rId26"/>
    <p:sldId id="369" r:id="rId27"/>
    <p:sldId id="370" r:id="rId28"/>
    <p:sldId id="371" r:id="rId29"/>
    <p:sldId id="274" r:id="rId30"/>
    <p:sldId id="372" r:id="rId31"/>
    <p:sldId id="373" r:id="rId32"/>
    <p:sldId id="374" r:id="rId33"/>
    <p:sldId id="375" r:id="rId34"/>
    <p:sldId id="376" r:id="rId35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4F8"/>
    <a:srgbClr val="FF0000"/>
    <a:srgbClr val="FF3300"/>
    <a:srgbClr val="FFCC00"/>
    <a:srgbClr val="CC9900"/>
    <a:srgbClr val="9966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57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3B38FC-17E2-4F91-A1F9-0054DED00DBE}" type="doc">
      <dgm:prSet loTypeId="urn:microsoft.com/office/officeart/2005/8/layout/cycle4" loCatId="relationship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n-PH"/>
        </a:p>
      </dgm:t>
    </dgm:pt>
    <dgm:pt modelId="{ADEE4C19-24F8-47DE-88E0-42056A79CB09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GOVERNANCE</a:t>
          </a:r>
          <a:endParaRPr lang="en-PH" b="1" dirty="0">
            <a:solidFill>
              <a:schemeClr val="tx1"/>
            </a:solidFill>
          </a:endParaRPr>
        </a:p>
      </dgm:t>
    </dgm:pt>
    <dgm:pt modelId="{EE9AFD61-979F-4A01-B69A-FBAD53821BD7}" type="parTrans" cxnId="{25F0BA4D-F0B7-4EA6-9885-0DB785B8EB32}">
      <dgm:prSet/>
      <dgm:spPr/>
      <dgm:t>
        <a:bodyPr/>
        <a:lstStyle/>
        <a:p>
          <a:endParaRPr lang="en-PH"/>
        </a:p>
      </dgm:t>
    </dgm:pt>
    <dgm:pt modelId="{6CE72840-7286-4232-8589-27D83CBD54F5}" type="sibTrans" cxnId="{25F0BA4D-F0B7-4EA6-9885-0DB785B8EB32}">
      <dgm:prSet/>
      <dgm:spPr/>
      <dgm:t>
        <a:bodyPr/>
        <a:lstStyle/>
        <a:p>
          <a:endParaRPr lang="en-PH"/>
        </a:p>
      </dgm:t>
    </dgm:pt>
    <dgm:pt modelId="{EF137FFE-0CBE-4372-AFB7-5401BE4AEAE0}">
      <dgm:prSet phldrT="[Text]" custT="1"/>
      <dgm:spPr>
        <a:solidFill>
          <a:schemeClr val="accent2">
            <a:lumMod val="40000"/>
            <a:lumOff val="60000"/>
            <a:alpha val="90000"/>
          </a:schemeClr>
        </a:solidFill>
        <a:ln w="28575">
          <a:solidFill>
            <a:schemeClr val="accent2"/>
          </a:solidFill>
        </a:ln>
      </dgm:spPr>
      <dgm:t>
        <a:bodyPr/>
        <a:lstStyle/>
        <a:p>
          <a:pPr marL="0" algn="l">
            <a:lnSpc>
              <a:spcPct val="100000"/>
            </a:lnSpc>
            <a:spcAft>
              <a:spcPts val="0"/>
            </a:spcAft>
            <a:buNone/>
          </a:pPr>
          <a:r>
            <a:rPr lang="en-US" sz="1400" b="1" dirty="0"/>
            <a:t>Rules, relationships, and processes for decision- making and accountability </a:t>
          </a:r>
          <a:endParaRPr lang="en-PH" sz="1400" b="1" dirty="0"/>
        </a:p>
      </dgm:t>
    </dgm:pt>
    <dgm:pt modelId="{64095EBA-DE9C-4673-9DB6-D3BA6BD72417}" type="parTrans" cxnId="{2DDBF26B-0C75-4B04-A2B0-E213D433A97A}">
      <dgm:prSet/>
      <dgm:spPr/>
      <dgm:t>
        <a:bodyPr/>
        <a:lstStyle/>
        <a:p>
          <a:endParaRPr lang="en-PH"/>
        </a:p>
      </dgm:t>
    </dgm:pt>
    <dgm:pt modelId="{F2EEC8B9-78AF-4F8E-A2F7-FFC85293977F}" type="sibTrans" cxnId="{2DDBF26B-0C75-4B04-A2B0-E213D433A97A}">
      <dgm:prSet/>
      <dgm:spPr/>
      <dgm:t>
        <a:bodyPr/>
        <a:lstStyle/>
        <a:p>
          <a:endParaRPr lang="en-PH"/>
        </a:p>
      </dgm:t>
    </dgm:pt>
    <dgm:pt modelId="{6E6EBBFC-73BE-4A2A-906F-ADAFFCE5A28B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SERVICE DELIVERY</a:t>
          </a:r>
          <a:endParaRPr lang="en-PH" b="1" dirty="0">
            <a:solidFill>
              <a:schemeClr val="tx1"/>
            </a:solidFill>
          </a:endParaRPr>
        </a:p>
      </dgm:t>
    </dgm:pt>
    <dgm:pt modelId="{B04E7666-726D-4E97-81D0-C05202BF3EA3}" type="parTrans" cxnId="{FCE6BF8D-C3B8-4D9C-8D1D-C5D4AA1C1655}">
      <dgm:prSet/>
      <dgm:spPr/>
      <dgm:t>
        <a:bodyPr/>
        <a:lstStyle/>
        <a:p>
          <a:endParaRPr lang="en-PH"/>
        </a:p>
      </dgm:t>
    </dgm:pt>
    <dgm:pt modelId="{275B8C89-1399-4523-AE87-102FD9B0DAEE}" type="sibTrans" cxnId="{FCE6BF8D-C3B8-4D9C-8D1D-C5D4AA1C1655}">
      <dgm:prSet/>
      <dgm:spPr/>
      <dgm:t>
        <a:bodyPr/>
        <a:lstStyle/>
        <a:p>
          <a:endParaRPr lang="en-PH"/>
        </a:p>
      </dgm:t>
    </dgm:pt>
    <dgm:pt modelId="{D3B8CC85-21C3-4EAE-A201-CA1D0D818F66}">
      <dgm:prSet phldrT="[Text]" custT="1"/>
      <dgm:spPr>
        <a:solidFill>
          <a:schemeClr val="bg1">
            <a:lumMod val="85000"/>
            <a:alpha val="90000"/>
          </a:schemeClr>
        </a:solidFill>
        <a:ln w="28575">
          <a:solidFill>
            <a:schemeClr val="bg1">
              <a:lumMod val="65000"/>
            </a:schemeClr>
          </a:solidFill>
        </a:ln>
      </dgm:spPr>
      <dgm:t>
        <a:bodyPr/>
        <a:lstStyle/>
        <a:p>
          <a:pPr marL="0" indent="0" algn="l">
            <a:lnSpc>
              <a:spcPct val="100000"/>
            </a:lnSpc>
            <a:spcAft>
              <a:spcPts val="0"/>
            </a:spcAft>
            <a:buNone/>
          </a:pPr>
          <a:r>
            <a:rPr lang="en-US" sz="1400" b="1" dirty="0"/>
            <a:t>Provision of health care services that directly impacts the health outcomes</a:t>
          </a:r>
          <a:endParaRPr lang="en-PH" sz="1400" b="1" dirty="0"/>
        </a:p>
      </dgm:t>
    </dgm:pt>
    <dgm:pt modelId="{C3D70E47-22F9-4FFA-A590-D92B1F44061A}" type="parTrans" cxnId="{E650B995-D293-45D8-B1C1-308CBC10C161}">
      <dgm:prSet/>
      <dgm:spPr/>
      <dgm:t>
        <a:bodyPr/>
        <a:lstStyle/>
        <a:p>
          <a:endParaRPr lang="en-PH"/>
        </a:p>
      </dgm:t>
    </dgm:pt>
    <dgm:pt modelId="{E335698D-1827-4A32-8B41-66C2E5793905}" type="sibTrans" cxnId="{E650B995-D293-45D8-B1C1-308CBC10C161}">
      <dgm:prSet/>
      <dgm:spPr/>
      <dgm:t>
        <a:bodyPr/>
        <a:lstStyle/>
        <a:p>
          <a:endParaRPr lang="en-PH"/>
        </a:p>
      </dgm:t>
    </dgm:pt>
    <dgm:pt modelId="{91B2AD95-D4AF-4E41-A9EA-5952647D7C62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COMMODITIES</a:t>
          </a:r>
          <a:endParaRPr lang="en-PH" b="1" dirty="0">
            <a:solidFill>
              <a:schemeClr val="tx1"/>
            </a:solidFill>
          </a:endParaRPr>
        </a:p>
      </dgm:t>
    </dgm:pt>
    <dgm:pt modelId="{B0454956-FB63-4A0B-9508-EFD3D18ADA74}" type="parTrans" cxnId="{CDCE1BF8-94BB-4CEF-80A3-9D3CF2039EE3}">
      <dgm:prSet/>
      <dgm:spPr/>
      <dgm:t>
        <a:bodyPr/>
        <a:lstStyle/>
        <a:p>
          <a:endParaRPr lang="en-PH"/>
        </a:p>
      </dgm:t>
    </dgm:pt>
    <dgm:pt modelId="{E90ECE27-4B50-4FC1-AF47-BE2763025375}" type="sibTrans" cxnId="{CDCE1BF8-94BB-4CEF-80A3-9D3CF2039EE3}">
      <dgm:prSet/>
      <dgm:spPr/>
      <dgm:t>
        <a:bodyPr/>
        <a:lstStyle/>
        <a:p>
          <a:endParaRPr lang="en-PH"/>
        </a:p>
      </dgm:t>
    </dgm:pt>
    <dgm:pt modelId="{25DA7288-5CBE-4C95-A4DA-18C949644874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  <a:ln w="28575"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marL="0" indent="0" algn="l" defTabSz="0">
            <a:lnSpc>
              <a:spcPct val="100000"/>
            </a:lnSpc>
            <a:spcAft>
              <a:spcPts val="0"/>
            </a:spcAft>
            <a:buNone/>
          </a:pPr>
          <a:r>
            <a:rPr lang="en-US" sz="1400" b="1" baseline="0" dirty="0"/>
            <a:t>Essential medical products, vaccines, and technologies</a:t>
          </a:r>
          <a:endParaRPr lang="en-PH" sz="1400" b="1" baseline="0" dirty="0"/>
        </a:p>
      </dgm:t>
    </dgm:pt>
    <dgm:pt modelId="{AF3A91D1-501A-4509-A3DD-5B09B8E2FA10}" type="parTrans" cxnId="{3059B74A-9BCF-4395-82B4-F89CF08D99D3}">
      <dgm:prSet/>
      <dgm:spPr/>
      <dgm:t>
        <a:bodyPr/>
        <a:lstStyle/>
        <a:p>
          <a:endParaRPr lang="en-PH"/>
        </a:p>
      </dgm:t>
    </dgm:pt>
    <dgm:pt modelId="{6DA27D57-3495-4E1B-8133-D5659C05F9FA}" type="sibTrans" cxnId="{3059B74A-9BCF-4395-82B4-F89CF08D99D3}">
      <dgm:prSet/>
      <dgm:spPr/>
      <dgm:t>
        <a:bodyPr/>
        <a:lstStyle/>
        <a:p>
          <a:endParaRPr lang="en-PH"/>
        </a:p>
      </dgm:t>
    </dgm:pt>
    <dgm:pt modelId="{1BFCF6F7-1678-459C-92AD-ECA0AA2E0755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HUMAN RESOURCE</a:t>
          </a:r>
          <a:endParaRPr lang="en-PH" b="1" dirty="0">
            <a:solidFill>
              <a:schemeClr val="tx1"/>
            </a:solidFill>
          </a:endParaRPr>
        </a:p>
      </dgm:t>
    </dgm:pt>
    <dgm:pt modelId="{AE529C62-FF03-475D-A4B3-3FAFB9689621}" type="parTrans" cxnId="{9205C45A-9404-44C5-AD10-18EC46C3012D}">
      <dgm:prSet/>
      <dgm:spPr/>
      <dgm:t>
        <a:bodyPr/>
        <a:lstStyle/>
        <a:p>
          <a:endParaRPr lang="en-PH"/>
        </a:p>
      </dgm:t>
    </dgm:pt>
    <dgm:pt modelId="{14C6B816-F8C1-469E-A8FD-E7BD5627D8CE}" type="sibTrans" cxnId="{9205C45A-9404-44C5-AD10-18EC46C3012D}">
      <dgm:prSet/>
      <dgm:spPr/>
      <dgm:t>
        <a:bodyPr/>
        <a:lstStyle/>
        <a:p>
          <a:endParaRPr lang="en-PH"/>
        </a:p>
      </dgm:t>
    </dgm:pt>
    <dgm:pt modelId="{F72A3D83-CBA0-4F2A-950D-3308612D8939}">
      <dgm:prSet phldrT="[Text]" custT="1"/>
      <dgm:spPr>
        <a:solidFill>
          <a:schemeClr val="accent1">
            <a:lumMod val="20000"/>
            <a:lumOff val="80000"/>
            <a:alpha val="90000"/>
          </a:schemeClr>
        </a:solidFill>
        <a:ln w="28575">
          <a:solidFill>
            <a:schemeClr val="accent1"/>
          </a:solidFill>
        </a:ln>
      </dgm:spPr>
      <dgm:t>
        <a:bodyPr/>
        <a:lstStyle/>
        <a:p>
          <a:pPr marL="0" indent="0">
            <a:lnSpc>
              <a:spcPct val="100000"/>
            </a:lnSpc>
            <a:spcAft>
              <a:spcPts val="0"/>
            </a:spcAft>
            <a:buNone/>
          </a:pPr>
          <a:r>
            <a:rPr lang="en-US" sz="1400" b="1" dirty="0"/>
            <a:t>Health workforce essential for the delivery of quality health care</a:t>
          </a:r>
          <a:endParaRPr lang="en-PH" sz="1400" b="1" dirty="0"/>
        </a:p>
      </dgm:t>
    </dgm:pt>
    <dgm:pt modelId="{BF3BF9B2-027B-4ACB-B6E9-20804AB8071B}" type="parTrans" cxnId="{5FEF64A4-49D0-4BBB-8ED0-B28D74C7103D}">
      <dgm:prSet/>
      <dgm:spPr/>
      <dgm:t>
        <a:bodyPr/>
        <a:lstStyle/>
        <a:p>
          <a:endParaRPr lang="en-PH"/>
        </a:p>
      </dgm:t>
    </dgm:pt>
    <dgm:pt modelId="{F14F97CD-74CD-4B5E-B16F-169E91FEFE89}" type="sibTrans" cxnId="{5FEF64A4-49D0-4BBB-8ED0-B28D74C7103D}">
      <dgm:prSet/>
      <dgm:spPr/>
      <dgm:t>
        <a:bodyPr/>
        <a:lstStyle/>
        <a:p>
          <a:endParaRPr lang="en-PH"/>
        </a:p>
      </dgm:t>
    </dgm:pt>
    <dgm:pt modelId="{1A5BBA9A-D422-471A-B526-BF6DFBDE707C}" type="pres">
      <dgm:prSet presAssocID="{553B38FC-17E2-4F91-A1F9-0054DED00DB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15AEDB47-A8B4-4154-B04B-2341CC98216D}" type="pres">
      <dgm:prSet presAssocID="{553B38FC-17E2-4F91-A1F9-0054DED00DBE}" presName="children" presStyleCnt="0"/>
      <dgm:spPr/>
    </dgm:pt>
    <dgm:pt modelId="{C418FCF1-E271-4FD3-A183-E11CEBA10F70}" type="pres">
      <dgm:prSet presAssocID="{553B38FC-17E2-4F91-A1F9-0054DED00DBE}" presName="child1group" presStyleCnt="0"/>
      <dgm:spPr/>
    </dgm:pt>
    <dgm:pt modelId="{663AAB10-308F-438B-B35D-C06A99BBA963}" type="pres">
      <dgm:prSet presAssocID="{553B38FC-17E2-4F91-A1F9-0054DED00DBE}" presName="child1" presStyleLbl="bgAcc1" presStyleIdx="0" presStyleCnt="4" custLinFactNeighborX="-28600" custLinFactNeighborY="573"/>
      <dgm:spPr/>
    </dgm:pt>
    <dgm:pt modelId="{6FB793E7-07B5-4B16-A5D3-E7E73DA640CC}" type="pres">
      <dgm:prSet presAssocID="{553B38FC-17E2-4F91-A1F9-0054DED00DBE}" presName="child1Text" presStyleLbl="bgAcc1" presStyleIdx="0" presStyleCnt="4">
        <dgm:presLayoutVars>
          <dgm:bulletEnabled val="1"/>
        </dgm:presLayoutVars>
      </dgm:prSet>
      <dgm:spPr/>
    </dgm:pt>
    <dgm:pt modelId="{585A48C2-E1A9-48BB-AFC9-844D1701D477}" type="pres">
      <dgm:prSet presAssocID="{553B38FC-17E2-4F91-A1F9-0054DED00DBE}" presName="child2group" presStyleCnt="0"/>
      <dgm:spPr/>
    </dgm:pt>
    <dgm:pt modelId="{D3C0151A-3D27-4CD3-A518-A6134B1F6E11}" type="pres">
      <dgm:prSet presAssocID="{553B38FC-17E2-4F91-A1F9-0054DED00DBE}" presName="child2" presStyleLbl="bgAcc1" presStyleIdx="1" presStyleCnt="4" custLinFactNeighborX="28600" custLinFactNeighborY="2294"/>
      <dgm:spPr/>
    </dgm:pt>
    <dgm:pt modelId="{2FC6307C-A692-40E5-89B7-D658C4DCFC14}" type="pres">
      <dgm:prSet presAssocID="{553B38FC-17E2-4F91-A1F9-0054DED00DBE}" presName="child2Text" presStyleLbl="bgAcc1" presStyleIdx="1" presStyleCnt="4">
        <dgm:presLayoutVars>
          <dgm:bulletEnabled val="1"/>
        </dgm:presLayoutVars>
      </dgm:prSet>
      <dgm:spPr/>
    </dgm:pt>
    <dgm:pt modelId="{84242087-5DF6-457E-8FE8-6F79A8AC985E}" type="pres">
      <dgm:prSet presAssocID="{553B38FC-17E2-4F91-A1F9-0054DED00DBE}" presName="child3group" presStyleCnt="0"/>
      <dgm:spPr/>
    </dgm:pt>
    <dgm:pt modelId="{BAD95846-D3DF-4383-B54A-8CFC41B961F6}" type="pres">
      <dgm:prSet presAssocID="{553B38FC-17E2-4F91-A1F9-0054DED00DBE}" presName="child3" presStyleLbl="bgAcc1" presStyleIdx="2" presStyleCnt="4" custLinFactNeighborX="29714" custLinFactNeighborY="-1147"/>
      <dgm:spPr/>
    </dgm:pt>
    <dgm:pt modelId="{5153F43E-5967-4970-B015-6CCF896D3AB8}" type="pres">
      <dgm:prSet presAssocID="{553B38FC-17E2-4F91-A1F9-0054DED00DBE}" presName="child3Text" presStyleLbl="bgAcc1" presStyleIdx="2" presStyleCnt="4">
        <dgm:presLayoutVars>
          <dgm:bulletEnabled val="1"/>
        </dgm:presLayoutVars>
      </dgm:prSet>
      <dgm:spPr/>
    </dgm:pt>
    <dgm:pt modelId="{CE87D2FB-926E-49BE-9D8D-A4F6426432C5}" type="pres">
      <dgm:prSet presAssocID="{553B38FC-17E2-4F91-A1F9-0054DED00DBE}" presName="child4group" presStyleCnt="0"/>
      <dgm:spPr/>
    </dgm:pt>
    <dgm:pt modelId="{360DD3E2-85F0-406A-9C19-59EFFFA2F86A}" type="pres">
      <dgm:prSet presAssocID="{553B38FC-17E2-4F91-A1F9-0054DED00DBE}" presName="child4" presStyleLbl="bgAcc1" presStyleIdx="3" presStyleCnt="4" custLinFactNeighborX="-29343" custLinFactNeighborY="-573"/>
      <dgm:spPr/>
    </dgm:pt>
    <dgm:pt modelId="{3517565F-51B3-4BFA-B819-085CE554FE71}" type="pres">
      <dgm:prSet presAssocID="{553B38FC-17E2-4F91-A1F9-0054DED00DBE}" presName="child4Text" presStyleLbl="bgAcc1" presStyleIdx="3" presStyleCnt="4">
        <dgm:presLayoutVars>
          <dgm:bulletEnabled val="1"/>
        </dgm:presLayoutVars>
      </dgm:prSet>
      <dgm:spPr/>
    </dgm:pt>
    <dgm:pt modelId="{581AE700-5AD3-4F26-999A-84E41560D247}" type="pres">
      <dgm:prSet presAssocID="{553B38FC-17E2-4F91-A1F9-0054DED00DBE}" presName="childPlaceholder" presStyleCnt="0"/>
      <dgm:spPr/>
    </dgm:pt>
    <dgm:pt modelId="{8885CD11-D7F1-4610-9BB6-0158F2F9BAD4}" type="pres">
      <dgm:prSet presAssocID="{553B38FC-17E2-4F91-A1F9-0054DED00DBE}" presName="circle" presStyleCnt="0"/>
      <dgm:spPr/>
    </dgm:pt>
    <dgm:pt modelId="{5FCE6A84-9A13-4E76-98C0-FABA76C18DDA}" type="pres">
      <dgm:prSet presAssocID="{553B38FC-17E2-4F91-A1F9-0054DED00DB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5FE65F9B-F7DE-4274-9CFA-AB70FA15D37B}" type="pres">
      <dgm:prSet presAssocID="{553B38FC-17E2-4F91-A1F9-0054DED00DB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DE21E7CC-3F8A-433C-8B95-2BA325D5D8E2}" type="pres">
      <dgm:prSet presAssocID="{553B38FC-17E2-4F91-A1F9-0054DED00DB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825803A6-C739-4605-A7F9-5812221D6999}" type="pres">
      <dgm:prSet presAssocID="{553B38FC-17E2-4F91-A1F9-0054DED00DB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804D6C6B-75AE-4AC3-ABBD-7F496F461CB4}" type="pres">
      <dgm:prSet presAssocID="{553B38FC-17E2-4F91-A1F9-0054DED00DBE}" presName="quadrantPlaceholder" presStyleCnt="0"/>
      <dgm:spPr/>
    </dgm:pt>
    <dgm:pt modelId="{5874081E-8182-4CE4-B872-97F9C6A3F99C}" type="pres">
      <dgm:prSet presAssocID="{553B38FC-17E2-4F91-A1F9-0054DED00DBE}" presName="center1" presStyleLbl="fgShp" presStyleIdx="0" presStyleCnt="2"/>
      <dgm:spPr/>
    </dgm:pt>
    <dgm:pt modelId="{E42FE351-FBD2-45FD-AD53-4047E7B26E9D}" type="pres">
      <dgm:prSet presAssocID="{553B38FC-17E2-4F91-A1F9-0054DED00DBE}" presName="center2" presStyleLbl="fgShp" presStyleIdx="1" presStyleCnt="2"/>
      <dgm:spPr/>
    </dgm:pt>
  </dgm:ptLst>
  <dgm:cxnLst>
    <dgm:cxn modelId="{C96C9116-60A4-4AA1-AF78-E9B44D29EF4E}" type="presOf" srcId="{ADEE4C19-24F8-47DE-88E0-42056A79CB09}" destId="{5FCE6A84-9A13-4E76-98C0-FABA76C18DDA}" srcOrd="0" destOrd="0" presId="urn:microsoft.com/office/officeart/2005/8/layout/cycle4"/>
    <dgm:cxn modelId="{BD329A28-6230-4300-8189-DF68AE81E9CF}" type="presOf" srcId="{F72A3D83-CBA0-4F2A-950D-3308612D8939}" destId="{360DD3E2-85F0-406A-9C19-59EFFFA2F86A}" srcOrd="0" destOrd="0" presId="urn:microsoft.com/office/officeart/2005/8/layout/cycle4"/>
    <dgm:cxn modelId="{2374A72C-A52D-4BE8-8602-485D64E3E1B7}" type="presOf" srcId="{91B2AD95-D4AF-4E41-A9EA-5952647D7C62}" destId="{DE21E7CC-3F8A-433C-8B95-2BA325D5D8E2}" srcOrd="0" destOrd="0" presId="urn:microsoft.com/office/officeart/2005/8/layout/cycle4"/>
    <dgm:cxn modelId="{E1B9AC36-3DBC-4A70-97C8-75C808E4AC4B}" type="presOf" srcId="{25DA7288-5CBE-4C95-A4DA-18C949644874}" destId="{5153F43E-5967-4970-B015-6CCF896D3AB8}" srcOrd="1" destOrd="0" presId="urn:microsoft.com/office/officeart/2005/8/layout/cycle4"/>
    <dgm:cxn modelId="{734FAC38-4553-4F09-BA32-6A94C10B54AF}" type="presOf" srcId="{D3B8CC85-21C3-4EAE-A201-CA1D0D818F66}" destId="{D3C0151A-3D27-4CD3-A518-A6134B1F6E11}" srcOrd="0" destOrd="0" presId="urn:microsoft.com/office/officeart/2005/8/layout/cycle4"/>
    <dgm:cxn modelId="{5CC56F5D-33FC-4D90-86D1-818651F2162F}" type="presOf" srcId="{EF137FFE-0CBE-4372-AFB7-5401BE4AEAE0}" destId="{663AAB10-308F-438B-B35D-C06A99BBA963}" srcOrd="0" destOrd="0" presId="urn:microsoft.com/office/officeart/2005/8/layout/cycle4"/>
    <dgm:cxn modelId="{B41EC245-F546-4819-91C8-C0BF233FD35D}" type="presOf" srcId="{EF137FFE-0CBE-4372-AFB7-5401BE4AEAE0}" destId="{6FB793E7-07B5-4B16-A5D3-E7E73DA640CC}" srcOrd="1" destOrd="0" presId="urn:microsoft.com/office/officeart/2005/8/layout/cycle4"/>
    <dgm:cxn modelId="{0AF32747-F628-4FD2-9389-2D2EAA7AB33F}" type="presOf" srcId="{D3B8CC85-21C3-4EAE-A201-CA1D0D818F66}" destId="{2FC6307C-A692-40E5-89B7-D658C4DCFC14}" srcOrd="1" destOrd="0" presId="urn:microsoft.com/office/officeart/2005/8/layout/cycle4"/>
    <dgm:cxn modelId="{3059B74A-9BCF-4395-82B4-F89CF08D99D3}" srcId="{91B2AD95-D4AF-4E41-A9EA-5952647D7C62}" destId="{25DA7288-5CBE-4C95-A4DA-18C949644874}" srcOrd="0" destOrd="0" parTransId="{AF3A91D1-501A-4509-A3DD-5B09B8E2FA10}" sibTransId="{6DA27D57-3495-4E1B-8133-D5659C05F9FA}"/>
    <dgm:cxn modelId="{2DDBF26B-0C75-4B04-A2B0-E213D433A97A}" srcId="{ADEE4C19-24F8-47DE-88E0-42056A79CB09}" destId="{EF137FFE-0CBE-4372-AFB7-5401BE4AEAE0}" srcOrd="0" destOrd="0" parTransId="{64095EBA-DE9C-4673-9DB6-D3BA6BD72417}" sibTransId="{F2EEC8B9-78AF-4F8E-A2F7-FFC85293977F}"/>
    <dgm:cxn modelId="{25F0BA4D-F0B7-4EA6-9885-0DB785B8EB32}" srcId="{553B38FC-17E2-4F91-A1F9-0054DED00DBE}" destId="{ADEE4C19-24F8-47DE-88E0-42056A79CB09}" srcOrd="0" destOrd="0" parTransId="{EE9AFD61-979F-4A01-B69A-FBAD53821BD7}" sibTransId="{6CE72840-7286-4232-8589-27D83CBD54F5}"/>
    <dgm:cxn modelId="{46537D58-E0CE-4557-84C3-62D3BC9C4261}" type="presOf" srcId="{553B38FC-17E2-4F91-A1F9-0054DED00DBE}" destId="{1A5BBA9A-D422-471A-B526-BF6DFBDE707C}" srcOrd="0" destOrd="0" presId="urn:microsoft.com/office/officeart/2005/8/layout/cycle4"/>
    <dgm:cxn modelId="{9205C45A-9404-44C5-AD10-18EC46C3012D}" srcId="{553B38FC-17E2-4F91-A1F9-0054DED00DBE}" destId="{1BFCF6F7-1678-459C-92AD-ECA0AA2E0755}" srcOrd="3" destOrd="0" parTransId="{AE529C62-FF03-475D-A4B3-3FAFB9689621}" sibTransId="{14C6B816-F8C1-469E-A8FD-E7BD5627D8CE}"/>
    <dgm:cxn modelId="{FCE6BF8D-C3B8-4D9C-8D1D-C5D4AA1C1655}" srcId="{553B38FC-17E2-4F91-A1F9-0054DED00DBE}" destId="{6E6EBBFC-73BE-4A2A-906F-ADAFFCE5A28B}" srcOrd="1" destOrd="0" parTransId="{B04E7666-726D-4E97-81D0-C05202BF3EA3}" sibTransId="{275B8C89-1399-4523-AE87-102FD9B0DAEE}"/>
    <dgm:cxn modelId="{BB4EB992-7B88-4C8C-A2F3-9155E4DD91C8}" type="presOf" srcId="{6E6EBBFC-73BE-4A2A-906F-ADAFFCE5A28B}" destId="{5FE65F9B-F7DE-4274-9CFA-AB70FA15D37B}" srcOrd="0" destOrd="0" presId="urn:microsoft.com/office/officeart/2005/8/layout/cycle4"/>
    <dgm:cxn modelId="{E650B995-D293-45D8-B1C1-308CBC10C161}" srcId="{6E6EBBFC-73BE-4A2A-906F-ADAFFCE5A28B}" destId="{D3B8CC85-21C3-4EAE-A201-CA1D0D818F66}" srcOrd="0" destOrd="0" parTransId="{C3D70E47-22F9-4FFA-A590-D92B1F44061A}" sibTransId="{E335698D-1827-4A32-8B41-66C2E5793905}"/>
    <dgm:cxn modelId="{A38E1298-0FA2-4990-B432-916B11FE6FFF}" type="presOf" srcId="{1BFCF6F7-1678-459C-92AD-ECA0AA2E0755}" destId="{825803A6-C739-4605-A7F9-5812221D6999}" srcOrd="0" destOrd="0" presId="urn:microsoft.com/office/officeart/2005/8/layout/cycle4"/>
    <dgm:cxn modelId="{5FEF64A4-49D0-4BBB-8ED0-B28D74C7103D}" srcId="{1BFCF6F7-1678-459C-92AD-ECA0AA2E0755}" destId="{F72A3D83-CBA0-4F2A-950D-3308612D8939}" srcOrd="0" destOrd="0" parTransId="{BF3BF9B2-027B-4ACB-B6E9-20804AB8071B}" sibTransId="{F14F97CD-74CD-4B5E-B16F-169E91FEFE89}"/>
    <dgm:cxn modelId="{2E6E72AB-6FE9-4890-8EB2-2C0CAFFB9F49}" type="presOf" srcId="{F72A3D83-CBA0-4F2A-950D-3308612D8939}" destId="{3517565F-51B3-4BFA-B819-085CE554FE71}" srcOrd="1" destOrd="0" presId="urn:microsoft.com/office/officeart/2005/8/layout/cycle4"/>
    <dgm:cxn modelId="{CDCE1BF8-94BB-4CEF-80A3-9D3CF2039EE3}" srcId="{553B38FC-17E2-4F91-A1F9-0054DED00DBE}" destId="{91B2AD95-D4AF-4E41-A9EA-5952647D7C62}" srcOrd="2" destOrd="0" parTransId="{B0454956-FB63-4A0B-9508-EFD3D18ADA74}" sibTransId="{E90ECE27-4B50-4FC1-AF47-BE2763025375}"/>
    <dgm:cxn modelId="{F8854EFC-F762-455C-85D5-6324A1A38083}" type="presOf" srcId="{25DA7288-5CBE-4C95-A4DA-18C949644874}" destId="{BAD95846-D3DF-4383-B54A-8CFC41B961F6}" srcOrd="0" destOrd="0" presId="urn:microsoft.com/office/officeart/2005/8/layout/cycle4"/>
    <dgm:cxn modelId="{969F0C4D-111F-46E8-B9C9-C51EE0EC6BC0}" type="presParOf" srcId="{1A5BBA9A-D422-471A-B526-BF6DFBDE707C}" destId="{15AEDB47-A8B4-4154-B04B-2341CC98216D}" srcOrd="0" destOrd="0" presId="urn:microsoft.com/office/officeart/2005/8/layout/cycle4"/>
    <dgm:cxn modelId="{F4247614-DBB3-4818-9E34-9D7604EA9E60}" type="presParOf" srcId="{15AEDB47-A8B4-4154-B04B-2341CC98216D}" destId="{C418FCF1-E271-4FD3-A183-E11CEBA10F70}" srcOrd="0" destOrd="0" presId="urn:microsoft.com/office/officeart/2005/8/layout/cycle4"/>
    <dgm:cxn modelId="{F9C698FE-7BA8-4D6E-B30B-9E8313661267}" type="presParOf" srcId="{C418FCF1-E271-4FD3-A183-E11CEBA10F70}" destId="{663AAB10-308F-438B-B35D-C06A99BBA963}" srcOrd="0" destOrd="0" presId="urn:microsoft.com/office/officeart/2005/8/layout/cycle4"/>
    <dgm:cxn modelId="{194E27D9-C2C3-494C-97F2-BE9A87925902}" type="presParOf" srcId="{C418FCF1-E271-4FD3-A183-E11CEBA10F70}" destId="{6FB793E7-07B5-4B16-A5D3-E7E73DA640CC}" srcOrd="1" destOrd="0" presId="urn:microsoft.com/office/officeart/2005/8/layout/cycle4"/>
    <dgm:cxn modelId="{AA8ABBAF-4B4F-40C7-A8F3-ABFF846C7750}" type="presParOf" srcId="{15AEDB47-A8B4-4154-B04B-2341CC98216D}" destId="{585A48C2-E1A9-48BB-AFC9-844D1701D477}" srcOrd="1" destOrd="0" presId="urn:microsoft.com/office/officeart/2005/8/layout/cycle4"/>
    <dgm:cxn modelId="{F9609D1D-AA1A-4795-B75E-3626362E4328}" type="presParOf" srcId="{585A48C2-E1A9-48BB-AFC9-844D1701D477}" destId="{D3C0151A-3D27-4CD3-A518-A6134B1F6E11}" srcOrd="0" destOrd="0" presId="urn:microsoft.com/office/officeart/2005/8/layout/cycle4"/>
    <dgm:cxn modelId="{BF0AEDD4-2930-40FB-913D-4E1CEA1E618B}" type="presParOf" srcId="{585A48C2-E1A9-48BB-AFC9-844D1701D477}" destId="{2FC6307C-A692-40E5-89B7-D658C4DCFC14}" srcOrd="1" destOrd="0" presId="urn:microsoft.com/office/officeart/2005/8/layout/cycle4"/>
    <dgm:cxn modelId="{EE6BCBEB-9B3E-414E-86C3-D1099AE7C26A}" type="presParOf" srcId="{15AEDB47-A8B4-4154-B04B-2341CC98216D}" destId="{84242087-5DF6-457E-8FE8-6F79A8AC985E}" srcOrd="2" destOrd="0" presId="urn:microsoft.com/office/officeart/2005/8/layout/cycle4"/>
    <dgm:cxn modelId="{4934DAAD-F95E-4531-8675-64E26BB22CD1}" type="presParOf" srcId="{84242087-5DF6-457E-8FE8-6F79A8AC985E}" destId="{BAD95846-D3DF-4383-B54A-8CFC41B961F6}" srcOrd="0" destOrd="0" presId="urn:microsoft.com/office/officeart/2005/8/layout/cycle4"/>
    <dgm:cxn modelId="{FF999FF5-F910-440C-B65C-73522A646BA9}" type="presParOf" srcId="{84242087-5DF6-457E-8FE8-6F79A8AC985E}" destId="{5153F43E-5967-4970-B015-6CCF896D3AB8}" srcOrd="1" destOrd="0" presId="urn:microsoft.com/office/officeart/2005/8/layout/cycle4"/>
    <dgm:cxn modelId="{5A3C3328-A5E6-4BDC-92BF-F97426D21AB7}" type="presParOf" srcId="{15AEDB47-A8B4-4154-B04B-2341CC98216D}" destId="{CE87D2FB-926E-49BE-9D8D-A4F6426432C5}" srcOrd="3" destOrd="0" presId="urn:microsoft.com/office/officeart/2005/8/layout/cycle4"/>
    <dgm:cxn modelId="{416CA5CD-9CAD-4852-A6E5-B047C0CE52AC}" type="presParOf" srcId="{CE87D2FB-926E-49BE-9D8D-A4F6426432C5}" destId="{360DD3E2-85F0-406A-9C19-59EFFFA2F86A}" srcOrd="0" destOrd="0" presId="urn:microsoft.com/office/officeart/2005/8/layout/cycle4"/>
    <dgm:cxn modelId="{6F58110C-5DA7-493F-B93F-F9A156785980}" type="presParOf" srcId="{CE87D2FB-926E-49BE-9D8D-A4F6426432C5}" destId="{3517565F-51B3-4BFA-B819-085CE554FE71}" srcOrd="1" destOrd="0" presId="urn:microsoft.com/office/officeart/2005/8/layout/cycle4"/>
    <dgm:cxn modelId="{21B934EA-9111-4A40-83B1-668E125E88D4}" type="presParOf" srcId="{15AEDB47-A8B4-4154-B04B-2341CC98216D}" destId="{581AE700-5AD3-4F26-999A-84E41560D247}" srcOrd="4" destOrd="0" presId="urn:microsoft.com/office/officeart/2005/8/layout/cycle4"/>
    <dgm:cxn modelId="{B13CC61F-8EEF-469B-88BA-3A07054709B2}" type="presParOf" srcId="{1A5BBA9A-D422-471A-B526-BF6DFBDE707C}" destId="{8885CD11-D7F1-4610-9BB6-0158F2F9BAD4}" srcOrd="1" destOrd="0" presId="urn:microsoft.com/office/officeart/2005/8/layout/cycle4"/>
    <dgm:cxn modelId="{01D8C116-9573-44A6-95A9-49090F9E0ECE}" type="presParOf" srcId="{8885CD11-D7F1-4610-9BB6-0158F2F9BAD4}" destId="{5FCE6A84-9A13-4E76-98C0-FABA76C18DDA}" srcOrd="0" destOrd="0" presId="urn:microsoft.com/office/officeart/2005/8/layout/cycle4"/>
    <dgm:cxn modelId="{2898C9B0-9F6F-4823-AAE2-4CA2CECFBF38}" type="presParOf" srcId="{8885CD11-D7F1-4610-9BB6-0158F2F9BAD4}" destId="{5FE65F9B-F7DE-4274-9CFA-AB70FA15D37B}" srcOrd="1" destOrd="0" presId="urn:microsoft.com/office/officeart/2005/8/layout/cycle4"/>
    <dgm:cxn modelId="{3513A831-71BB-4D27-93AD-FF68272456A5}" type="presParOf" srcId="{8885CD11-D7F1-4610-9BB6-0158F2F9BAD4}" destId="{DE21E7CC-3F8A-433C-8B95-2BA325D5D8E2}" srcOrd="2" destOrd="0" presId="urn:microsoft.com/office/officeart/2005/8/layout/cycle4"/>
    <dgm:cxn modelId="{E584F585-6169-410E-BD97-45C2A07D4242}" type="presParOf" srcId="{8885CD11-D7F1-4610-9BB6-0158F2F9BAD4}" destId="{825803A6-C739-4605-A7F9-5812221D6999}" srcOrd="3" destOrd="0" presId="urn:microsoft.com/office/officeart/2005/8/layout/cycle4"/>
    <dgm:cxn modelId="{E2DCF907-03E5-4858-9BE2-AF0C74658E80}" type="presParOf" srcId="{8885CD11-D7F1-4610-9BB6-0158F2F9BAD4}" destId="{804D6C6B-75AE-4AC3-ABBD-7F496F461CB4}" srcOrd="4" destOrd="0" presId="urn:microsoft.com/office/officeart/2005/8/layout/cycle4"/>
    <dgm:cxn modelId="{4FE04ECE-F990-42E3-BDE1-D1817F82487C}" type="presParOf" srcId="{1A5BBA9A-D422-471A-B526-BF6DFBDE707C}" destId="{5874081E-8182-4CE4-B872-97F9C6A3F99C}" srcOrd="2" destOrd="0" presId="urn:microsoft.com/office/officeart/2005/8/layout/cycle4"/>
    <dgm:cxn modelId="{80BF9D3F-2957-475E-996A-1E2479E6B4E6}" type="presParOf" srcId="{1A5BBA9A-D422-471A-B526-BF6DFBDE707C}" destId="{E42FE351-FBD2-45FD-AD53-4047E7B26E9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D95846-D3DF-4383-B54A-8CFC41B961F6}">
      <dsp:nvSpPr>
        <dsp:cNvPr id="0" name=""/>
        <dsp:cNvSpPr/>
      </dsp:nvSpPr>
      <dsp:spPr>
        <a:xfrm>
          <a:off x="5069586" y="3120809"/>
          <a:ext cx="2279480" cy="1476586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28575" cap="flat" cmpd="sng" algn="ctr">
          <a:solidFill>
            <a:schemeClr val="accent4">
              <a:lumMod val="60000"/>
              <a:lumOff val="4000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1" indent="0" algn="l" defTabSz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b="1" kern="1200" baseline="0" dirty="0"/>
            <a:t>Essential medical products, vaccines, and technologies</a:t>
          </a:r>
          <a:endParaRPr lang="en-PH" sz="1400" b="1" kern="1200" baseline="0" dirty="0"/>
        </a:p>
      </dsp:txBody>
      <dsp:txXfrm>
        <a:off x="5785866" y="3522392"/>
        <a:ext cx="1530764" cy="1042567"/>
      </dsp:txXfrm>
    </dsp:sp>
    <dsp:sp modelId="{360DD3E2-85F0-406A-9C19-59EFFFA2F86A}">
      <dsp:nvSpPr>
        <dsp:cNvPr id="0" name=""/>
        <dsp:cNvSpPr/>
      </dsp:nvSpPr>
      <dsp:spPr>
        <a:xfrm>
          <a:off x="6349" y="3129285"/>
          <a:ext cx="2279480" cy="1476586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  <a:alpha val="90000"/>
          </a:schemeClr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1" indent="0" algn="l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b="1" kern="1200" dirty="0"/>
            <a:t>Health workforce essential for the delivery of quality health care</a:t>
          </a:r>
          <a:endParaRPr lang="en-PH" sz="1400" b="1" kern="1200" dirty="0"/>
        </a:p>
      </dsp:txBody>
      <dsp:txXfrm>
        <a:off x="38785" y="3530868"/>
        <a:ext cx="1530764" cy="1042567"/>
      </dsp:txXfrm>
    </dsp:sp>
    <dsp:sp modelId="{D3C0151A-3D27-4CD3-A518-A6134B1F6E11}">
      <dsp:nvSpPr>
        <dsp:cNvPr id="0" name=""/>
        <dsp:cNvSpPr/>
      </dsp:nvSpPr>
      <dsp:spPr>
        <a:xfrm>
          <a:off x="5046300" y="33872"/>
          <a:ext cx="2279480" cy="1476586"/>
        </a:xfrm>
        <a:prstGeom prst="roundRect">
          <a:avLst>
            <a:gd name="adj" fmla="val 10000"/>
          </a:avLst>
        </a:prstGeom>
        <a:solidFill>
          <a:schemeClr val="bg1">
            <a:lumMod val="85000"/>
            <a:alpha val="90000"/>
          </a:schemeClr>
        </a:solidFill>
        <a:ln w="28575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1" indent="0" algn="l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b="1" kern="1200" dirty="0"/>
            <a:t>Provision of health care services that directly impacts the health outcomes</a:t>
          </a:r>
          <a:endParaRPr lang="en-PH" sz="1400" b="1" kern="1200" dirty="0"/>
        </a:p>
      </dsp:txBody>
      <dsp:txXfrm>
        <a:off x="5762581" y="66308"/>
        <a:ext cx="1530764" cy="1042567"/>
      </dsp:txXfrm>
    </dsp:sp>
    <dsp:sp modelId="{663AAB10-308F-438B-B35D-C06A99BBA963}">
      <dsp:nvSpPr>
        <dsp:cNvPr id="0" name=""/>
        <dsp:cNvSpPr/>
      </dsp:nvSpPr>
      <dsp:spPr>
        <a:xfrm>
          <a:off x="23285" y="8460"/>
          <a:ext cx="2279480" cy="1476586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  <a:alpha val="90000"/>
          </a:schemeClr>
        </a:solidFill>
        <a:ln w="28575" cap="flat" cmpd="sng" algn="ctr">
          <a:solidFill>
            <a:schemeClr val="accent2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1" indent="-114300" algn="l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b="1" kern="1200" dirty="0"/>
            <a:t>Rules, relationships, and processes for decision- making and accountability </a:t>
          </a:r>
          <a:endParaRPr lang="en-PH" sz="1400" b="1" kern="1200" dirty="0"/>
        </a:p>
      </dsp:txBody>
      <dsp:txXfrm>
        <a:off x="55721" y="40896"/>
        <a:ext cx="1530764" cy="1042567"/>
      </dsp:txXfrm>
    </dsp:sp>
    <dsp:sp modelId="{5FCE6A84-9A13-4E76-98C0-FABA76C18DDA}">
      <dsp:nvSpPr>
        <dsp:cNvPr id="0" name=""/>
        <dsp:cNvSpPr/>
      </dsp:nvSpPr>
      <dsp:spPr>
        <a:xfrm>
          <a:off x="1630383" y="263016"/>
          <a:ext cx="1998006" cy="1998006"/>
        </a:xfrm>
        <a:prstGeom prst="pieWedg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</a:rPr>
            <a:t>GOVERNANCE</a:t>
          </a:r>
          <a:endParaRPr lang="en-PH" sz="1500" b="1" kern="1200" dirty="0">
            <a:solidFill>
              <a:schemeClr val="tx1"/>
            </a:solidFill>
          </a:endParaRPr>
        </a:p>
      </dsp:txBody>
      <dsp:txXfrm>
        <a:off x="2215585" y="848218"/>
        <a:ext cx="1412804" cy="1412804"/>
      </dsp:txXfrm>
    </dsp:sp>
    <dsp:sp modelId="{5FE65F9B-F7DE-4274-9CFA-AB70FA15D37B}">
      <dsp:nvSpPr>
        <dsp:cNvPr id="0" name=""/>
        <dsp:cNvSpPr/>
      </dsp:nvSpPr>
      <dsp:spPr>
        <a:xfrm rot="5400000">
          <a:off x="3720676" y="263016"/>
          <a:ext cx="1998006" cy="1998006"/>
        </a:xfrm>
        <a:prstGeom prst="pieWedg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</a:rPr>
            <a:t>SERVICE DELIVERY</a:t>
          </a:r>
          <a:endParaRPr lang="en-PH" sz="1500" b="1" kern="1200" dirty="0">
            <a:solidFill>
              <a:schemeClr val="tx1"/>
            </a:solidFill>
          </a:endParaRPr>
        </a:p>
      </dsp:txBody>
      <dsp:txXfrm rot="-5400000">
        <a:off x="3720676" y="848218"/>
        <a:ext cx="1412804" cy="1412804"/>
      </dsp:txXfrm>
    </dsp:sp>
    <dsp:sp modelId="{DE21E7CC-3F8A-433C-8B95-2BA325D5D8E2}">
      <dsp:nvSpPr>
        <dsp:cNvPr id="0" name=""/>
        <dsp:cNvSpPr/>
      </dsp:nvSpPr>
      <dsp:spPr>
        <a:xfrm rot="10800000">
          <a:off x="3720676" y="2353309"/>
          <a:ext cx="1998006" cy="1998006"/>
        </a:xfrm>
        <a:prstGeom prst="pieWedg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</a:rPr>
            <a:t>COMMODITIES</a:t>
          </a:r>
          <a:endParaRPr lang="en-PH" sz="1500" b="1" kern="1200" dirty="0">
            <a:solidFill>
              <a:schemeClr val="tx1"/>
            </a:solidFill>
          </a:endParaRPr>
        </a:p>
      </dsp:txBody>
      <dsp:txXfrm rot="10800000">
        <a:off x="3720676" y="2353309"/>
        <a:ext cx="1412804" cy="1412804"/>
      </dsp:txXfrm>
    </dsp:sp>
    <dsp:sp modelId="{825803A6-C739-4605-A7F9-5812221D6999}">
      <dsp:nvSpPr>
        <dsp:cNvPr id="0" name=""/>
        <dsp:cNvSpPr/>
      </dsp:nvSpPr>
      <dsp:spPr>
        <a:xfrm rot="16200000">
          <a:off x="1630383" y="2353309"/>
          <a:ext cx="1998006" cy="1998006"/>
        </a:xfrm>
        <a:prstGeom prst="pieWedg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</a:rPr>
            <a:t>HUMAN RESOURCE</a:t>
          </a:r>
          <a:endParaRPr lang="en-PH" sz="1500" b="1" kern="1200" dirty="0">
            <a:solidFill>
              <a:schemeClr val="tx1"/>
            </a:solidFill>
          </a:endParaRPr>
        </a:p>
      </dsp:txBody>
      <dsp:txXfrm rot="5400000">
        <a:off x="2215585" y="2353309"/>
        <a:ext cx="1412804" cy="1412804"/>
      </dsp:txXfrm>
    </dsp:sp>
    <dsp:sp modelId="{5874081E-8182-4CE4-B872-97F9C6A3F99C}">
      <dsp:nvSpPr>
        <dsp:cNvPr id="0" name=""/>
        <dsp:cNvSpPr/>
      </dsp:nvSpPr>
      <dsp:spPr>
        <a:xfrm>
          <a:off x="3329612" y="1891876"/>
          <a:ext cx="689842" cy="599863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2FE351-FBD2-45FD-AD53-4047E7B26E9D}">
      <dsp:nvSpPr>
        <dsp:cNvPr id="0" name=""/>
        <dsp:cNvSpPr/>
      </dsp:nvSpPr>
      <dsp:spPr>
        <a:xfrm rot="10800000">
          <a:off x="3329612" y="2122593"/>
          <a:ext cx="689842" cy="599863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6A4D9-6764-4B97-8802-2D1FCE6A0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F5252-D658-4E6D-B86B-200F0BFED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0F642-2A6B-4F01-8137-C52D3AD1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08579-FAF3-4443-AFD1-A7EE6186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E9B9C-1B40-4C34-AB28-F4E23A54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876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0936B-9048-4778-9378-B0B8C43D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E6A2-2AB2-4EBA-92B5-99579F133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1C965-2B21-4792-9A2D-A933A6C2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B0E31-7BD2-42B5-8CC4-F3D16C61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BDACE-51FD-4B44-9781-5CA0E21A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9806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B191E-F6E1-44DF-A1F5-D1419F4BC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EF01B-7C85-47C8-BE3E-24ACAA47F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6B909-3E67-49D7-9E63-8DCA5DCD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BB3AE-AB5F-4DE8-823D-A07B3BD1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5F6FF-4479-49B7-A80A-4C5B4747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9285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F5AF-1D84-432F-8747-60A883C8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1B626-0D3F-4E20-B0D5-C9C662192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AD646-2F9E-4612-B02C-769DA97F5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C57A8-D3B6-4190-8825-6C74A2B43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6CEE-0D8B-409A-BCF9-4DE0769A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6F047-84F1-40F6-BE22-3D77BDD35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8307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91E2-FE02-4452-9695-A24130B0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61C5A-BB69-48C5-9B32-A1EADF102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40CA6-0D6A-4D0A-92FF-968070609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90D37-F56C-439A-AF5D-1E6507A9A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FD7CFE-9CFC-4864-8F6E-47A906ADC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4F1FE-B41C-4719-89D4-E484C765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ACB83-C919-4FEC-8C42-363D60CA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70F5B-ECA1-4D73-87F6-94E69ED9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3361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9320-3FE0-4B2E-92B1-8E14DDEE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996CC-FD37-43B7-8EA9-DB6297A86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0329F-C730-4F73-843C-B5A058E38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C25FA-7F04-4580-88D9-D89C376FA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399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1A021B-059F-4740-8E93-E3748CF5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06C6DB-0959-4BFD-9622-E90A16574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46EE0-F95E-486F-B841-AAE0B02D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817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9804-758D-4F12-B11A-989B7BA9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55644-D3EF-4F41-BADE-6E589C90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372BE-D977-48E5-9CDA-93FBF74A6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C07D8-D05F-4CBA-986E-9A35E536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D1BDD-1888-44D8-A117-D742B9BD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44696-798A-4994-AE1D-A754151C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060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A9A6-F453-4FD7-8DE6-9CA6E3FC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B05BC8-5803-40F5-8FB3-06C9E2BE9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F764A-99B1-4A0C-BDCC-ACA764088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DAF73-5DBE-4A4D-8413-CA09CA2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BFDB2-D37B-4B2F-BE6F-12ECB11B9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6C88A-D3E0-4393-BDC3-AB2EC890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4750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F3C4-43BC-4F10-A14D-19358EE9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1749D-96AC-4D91-B267-8188F5BBC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AF04-B729-4EF4-AFBC-9922CC45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CC42-D6E3-4382-A5BF-0B123395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CD823-B37F-4ABE-B329-65DE56B9D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352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65120-7094-4A64-B1B1-77072B228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58D03-F53D-436B-9566-9BA3997A2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0BA18-6977-4EBD-9B6E-BEDC60F1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9A92A-31BA-48A1-8FCE-923F3551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D6027-7C5A-4ACD-BA52-EE740D5D6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4153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6A0155-B4C8-4EF9-BF4A-55A605A8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F46BB-FEB2-48FA-8814-DCC464EC6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73C8F-D274-487D-ABF0-6B4DEE1C5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24728-54A2-4FC5-BC95-32A483A46BD9}" type="datetimeFigureOut">
              <a:rPr lang="en-PH" smtClean="0"/>
              <a:t>19/10/2026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0B235-A079-46B2-ABBD-DA92D5600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2FC4E-0DB1-446B-B43A-7EF5C14B3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C4FA2-740C-4D9C-A385-1C38BECE626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9365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B00D22-5D56-419D-BF08-9F9E5A3DB0B7}"/>
              </a:ext>
            </a:extLst>
          </p:cNvPr>
          <p:cNvSpPr txBox="1">
            <a:spLocks/>
          </p:cNvSpPr>
          <p:nvPr/>
        </p:nvSpPr>
        <p:spPr>
          <a:xfrm>
            <a:off x="492369" y="1846385"/>
            <a:ext cx="11369106" cy="2175282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HEALTH SUMMIT PROGRAM INDICATORS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COMPARATIVE RESULTS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CY 2025-2026</a:t>
            </a:r>
          </a:p>
        </p:txBody>
      </p:sp>
    </p:spTree>
    <p:extLst>
      <p:ext uri="{BB962C8B-B14F-4D97-AF65-F5344CB8AC3E}">
        <p14:creationId xmlns:p14="http://schemas.microsoft.com/office/powerpoint/2010/main" val="1314633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D2B97E-C0BD-4EF4-928C-5EBDA9D22F95}"/>
              </a:ext>
            </a:extLst>
          </p:cNvPr>
          <p:cNvSpPr txBox="1">
            <a:spLocks/>
          </p:cNvSpPr>
          <p:nvPr/>
        </p:nvSpPr>
        <p:spPr>
          <a:xfrm>
            <a:off x="351693" y="111311"/>
            <a:ext cx="11412416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HEALTH PROGRAMS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11639C-385F-4155-98DC-B7D03215BEC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1693" y="921851"/>
          <a:ext cx="3695375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5375">
                  <a:extLst>
                    <a:ext uri="{9D8B030D-6E8A-4147-A177-3AD203B41FA5}">
                      <a16:colId xmlns:a16="http://schemas.microsoft.com/office/drawing/2014/main" val="436683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HEALTH GOVERNANCE</a:t>
                      </a:r>
                      <a:endParaRPr lang="en-PH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56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Local Health Board and Inter Local Health Zone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23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Operation of Barangay Health Workers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139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Davao del Norte Health Information and Management System (DHIMS)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93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Davao del Norte Electronic Health Referral System (DEHEARS)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839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FAMILY HEALTH CARE</a:t>
                      </a:r>
                      <a:endParaRPr lang="en-PH" sz="1100" b="1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13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Maternal Health Care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2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IMCI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606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Women’s Health Care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591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Male Reproductive Health Care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369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Family Planning Program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473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National Immunization Program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07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Nutrition Program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02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Dental Health Care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114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Exclusive Breastfeeding Program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28879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2511E5-76F7-4785-A6E2-70004338D49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20280" y="921851"/>
          <a:ext cx="3695375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5375">
                  <a:extLst>
                    <a:ext uri="{9D8B030D-6E8A-4147-A177-3AD203B41FA5}">
                      <a16:colId xmlns:a16="http://schemas.microsoft.com/office/drawing/2014/main" val="436683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ENVIRONMENTAL, OCCUPATIONAL HEALTH AND SANITATION</a:t>
                      </a:r>
                      <a:endParaRPr lang="en-PH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56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Water, Food and Sanitation Services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23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Vector Control and Environmental Health Related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139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DISEASE PREVENTION AND CONTROL</a:t>
                      </a:r>
                      <a:endParaRPr lang="en-PH" sz="1100" b="1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93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TB Prevention and Control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839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STI/HIV Prevention and Control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13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Rabies Prevention and Control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2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Tobacco Prevention and Control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606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Non Communicable Disease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55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Mental Health Program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928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ALLIED HEALTH SERVICES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369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Health Promotion Education and Advocacy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473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Epidemiology and Surveillance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07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Disaster Risk Reduction and Management in Health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02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Adolescent Health and Youth Development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114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n-US" sz="11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Population Management Services</a:t>
                      </a:r>
                      <a:endParaRPr lang="en-PH" sz="11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2887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EC0285-F5DA-4C3C-8C00-C746FE027B8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195734" y="1837266"/>
          <a:ext cx="3788508" cy="27432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492064">
                  <a:extLst>
                    <a:ext uri="{9D8B030D-6E8A-4147-A177-3AD203B41FA5}">
                      <a16:colId xmlns:a16="http://schemas.microsoft.com/office/drawing/2014/main" val="3917490718"/>
                    </a:ext>
                  </a:extLst>
                </a:gridCol>
                <a:gridCol w="1296444">
                  <a:extLst>
                    <a:ext uri="{9D8B030D-6E8A-4147-A177-3AD203B41FA5}">
                      <a16:colId xmlns:a16="http://schemas.microsoft.com/office/drawing/2014/main" val="2890123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HEALTH PROGRAM</a:t>
                      </a:r>
                      <a:endParaRPr lang="en-PH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INDICATORS</a:t>
                      </a:r>
                      <a:endParaRPr lang="en-PH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93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Health Governance</a:t>
                      </a:r>
                      <a:endParaRPr lang="en-PH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PH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0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Family Health Care</a:t>
                      </a:r>
                      <a:endParaRPr lang="en-PH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852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Environmental Health</a:t>
                      </a:r>
                      <a:endParaRPr lang="en-PH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PH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09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Disease Prevention and Control</a:t>
                      </a:r>
                      <a:endParaRPr lang="en-PH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PH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903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Allied Health Services</a:t>
                      </a:r>
                      <a:endParaRPr lang="en-PH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PH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922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PH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PH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22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20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868C6D2-E790-4E56-943F-20ACF57E5472}"/>
              </a:ext>
            </a:extLst>
          </p:cNvPr>
          <p:cNvSpPr txBox="1">
            <a:spLocks/>
          </p:cNvSpPr>
          <p:nvPr/>
        </p:nvSpPr>
        <p:spPr>
          <a:xfrm>
            <a:off x="389792" y="509246"/>
            <a:ext cx="11412416" cy="662811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INTERCONNECTED COMPONENTS OF A WELL-FUNCTIONING HEALTH SYSTEM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B58033B-2FED-4C6F-963C-FE9E83066052}"/>
              </a:ext>
            </a:extLst>
          </p:cNvPr>
          <p:cNvGraphicFramePr/>
          <p:nvPr>
            <p:extLst/>
          </p:nvPr>
        </p:nvGraphicFramePr>
        <p:xfrm>
          <a:off x="2489200" y="1600200"/>
          <a:ext cx="7349067" cy="4614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227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A788C6B-5788-40A3-ABDC-0D24C00372B9}"/>
              </a:ext>
            </a:extLst>
          </p:cNvPr>
          <p:cNvSpPr txBox="1">
            <a:spLocks/>
          </p:cNvSpPr>
          <p:nvPr/>
        </p:nvSpPr>
        <p:spPr>
          <a:xfrm>
            <a:off x="389792" y="2244912"/>
            <a:ext cx="11412416" cy="662811"/>
          </a:xfrm>
          <a:prstGeom prst="rect">
            <a:avLst/>
          </a:prstGeom>
          <a:solidFill>
            <a:srgbClr val="FF33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HEALTH GOVERNANCE PROGRAM</a:t>
            </a:r>
          </a:p>
        </p:txBody>
      </p:sp>
    </p:spTree>
    <p:extLst>
      <p:ext uri="{BB962C8B-B14F-4D97-AF65-F5344CB8AC3E}">
        <p14:creationId xmlns:p14="http://schemas.microsoft.com/office/powerpoint/2010/main" val="3856784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265065"/>
              </p:ext>
            </p:extLst>
          </p:nvPr>
        </p:nvGraphicFramePr>
        <p:xfrm>
          <a:off x="3369732" y="879143"/>
          <a:ext cx="8527889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8134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525022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n-lt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 PERFORMING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 PERFORMING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F33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LOCAL HEALTH BOARD and INTER LOCAL HEALTH ZONE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00E003-3F63-4167-93C5-F929C0B8B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747836"/>
              </p:ext>
            </p:extLst>
          </p:nvPr>
        </p:nvGraphicFramePr>
        <p:xfrm>
          <a:off x="294376" y="879141"/>
          <a:ext cx="2804424" cy="4477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424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53253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Regular LHB Meetings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DOH License to Operate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kern="1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PhilHealth Accreditation </a:t>
                      </a:r>
                      <a:endParaRPr lang="en-PH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Local Investment Plan for Health 2026-2028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Annual Operational Plans for Health </a:t>
                      </a:r>
                      <a:endParaRPr lang="en-PH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Attendance to Meetings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PCF and PCW Team with Certification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52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415620"/>
              </p:ext>
            </p:extLst>
          </p:nvPr>
        </p:nvGraphicFramePr>
        <p:xfrm>
          <a:off x="3556000" y="879143"/>
          <a:ext cx="8341621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5267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313354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F33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OPERATION OF BARANGAY HEALTH WORKERS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EA01A4-1A3B-431B-9FA2-E09042FA0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37697"/>
              </p:ext>
            </p:extLst>
          </p:nvPr>
        </p:nvGraphicFramePr>
        <p:xfrm>
          <a:off x="294375" y="879141"/>
          <a:ext cx="3117692" cy="5884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692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50022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8839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Ordinance/Executive Order/LHB Resolution on BHW RAC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BHW Budget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Policy on BHW Incentives</a:t>
                      </a:r>
                      <a:endParaRPr lang="en-PH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48880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DHIMS Accomplishment 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RHIS Accomplishment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TCL Accomplishment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BHW Annual Reports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28839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Conducted or Attended BHW Training and Capacity Building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BHW Certificate of Accreditation and Registration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235239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Medical Equipment, Office Supplies and ICT Equipment in support for BHW Operation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PH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728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305677"/>
              </p:ext>
            </p:extLst>
          </p:nvPr>
        </p:nvGraphicFramePr>
        <p:xfrm>
          <a:off x="3479799" y="879143"/>
          <a:ext cx="8417822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35868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497666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584288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F33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DAVNOR HEALTH INFORMATION MANAGEMENT SYSTEM (DHIMS)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FD9D50-D022-4375-88F9-2AE1A7E1D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93676"/>
              </p:ext>
            </p:extLst>
          </p:nvPr>
        </p:nvGraphicFramePr>
        <p:xfrm>
          <a:off x="294375" y="879141"/>
          <a:ext cx="2948357" cy="579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357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53253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Local Health Information Management System Policy (Ordinance/EO/LHB Resolution/Adoption)</a:t>
                      </a:r>
                      <a:endParaRPr lang="en-PH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Health Programs Utilizing the DHIMS Health Data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Quarterly 100% of Household Profiling Accomplishment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DHIMS Focal Person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DHIMS Enumerator/Encoders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ICT Equipment dedicated or shared of DHIMS Focal Person (Computer and Smartphone)</a:t>
                      </a:r>
                      <a:endParaRPr lang="en-PH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31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924705"/>
              </p:ext>
            </p:extLst>
          </p:nvPr>
        </p:nvGraphicFramePr>
        <p:xfrm>
          <a:off x="4004733" y="879143"/>
          <a:ext cx="7892886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8067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499619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F33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DAVNOR ELECTRONIC HEALTH REFERRAL SYSTEM (DEHEARS)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6ABCBD-C69F-4F99-8128-BBF9FB3D8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017643"/>
              </p:ext>
            </p:extLst>
          </p:nvPr>
        </p:nvGraphicFramePr>
        <p:xfrm>
          <a:off x="294376" y="956364"/>
          <a:ext cx="3464824" cy="579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4824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53253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Ordinance/Executive Order/Local Health Board Resolution/Adoption</a:t>
                      </a:r>
                      <a:endParaRPr lang="en-PH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Availability of total number of created  /initiated patient referrals through DEHEARS per Health Facility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Referral (DEHEARS) Focal Person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Referral (DEHEARS) Encoders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ICT equipment dedicated to DEHEARS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Internet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68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A788C6B-5788-40A3-ABDC-0D24C00372B9}"/>
              </a:ext>
            </a:extLst>
          </p:cNvPr>
          <p:cNvSpPr txBox="1">
            <a:spLocks/>
          </p:cNvSpPr>
          <p:nvPr/>
        </p:nvSpPr>
        <p:spPr>
          <a:xfrm>
            <a:off x="389792" y="2244912"/>
            <a:ext cx="11412416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FAMILY HEALTH CARE</a:t>
            </a:r>
          </a:p>
        </p:txBody>
      </p:sp>
    </p:spTree>
    <p:extLst>
      <p:ext uri="{BB962C8B-B14F-4D97-AF65-F5344CB8AC3E}">
        <p14:creationId xmlns:p14="http://schemas.microsoft.com/office/powerpoint/2010/main" val="2671419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691549"/>
              </p:ext>
            </p:extLst>
          </p:nvPr>
        </p:nvGraphicFramePr>
        <p:xfrm>
          <a:off x="4190999" y="879143"/>
          <a:ext cx="7706621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4734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455334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516553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MATERNAL HEALTH CARE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160DFE-A8BB-4797-B893-68A59316E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520894"/>
              </p:ext>
            </p:extLst>
          </p:nvPr>
        </p:nvGraphicFramePr>
        <p:xfrm>
          <a:off x="294376" y="918448"/>
          <a:ext cx="3464824" cy="579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4824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53253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Ordinance on Functional Safe Motherhood 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Approved Annual Safe Motherhood Plan</a:t>
                      </a:r>
                      <a:endParaRPr lang="en-PH" sz="1400" b="1" kern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Budget Allocation for Safe Motherhood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Pregnant Women with 8 ANC Visits</a:t>
                      </a:r>
                      <a:endParaRPr lang="en-PH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Facility-Based Delivery Rate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Postpartum Care Coverage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Maternal Mortality Ratio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Skilled Birth Attendant Availability</a:t>
                      </a:r>
                      <a:endParaRPr lang="en-PH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Trained </a:t>
                      </a:r>
                      <a:r>
                        <a:rPr lang="en-US" sz="1400" b="1" kern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BEmONC</a:t>
                      </a: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b="1" kern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CEmONC</a:t>
                      </a: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Staff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Attended Capacity Building Activities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of Essential Maternal Medicines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Referral Transport System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PH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921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096190"/>
              </p:ext>
            </p:extLst>
          </p:nvPr>
        </p:nvGraphicFramePr>
        <p:xfrm>
          <a:off x="3945467" y="879143"/>
          <a:ext cx="7952154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506133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677421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INTEGRATED MANAGEMENT OF CHILDHOOD ILLNESS (IMCI)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B17A6A-82AD-4E3C-A7B2-77BDFEC93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741313"/>
              </p:ext>
            </p:extLst>
          </p:nvPr>
        </p:nvGraphicFramePr>
        <p:xfrm>
          <a:off x="294376" y="918448"/>
          <a:ext cx="3464824" cy="579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4824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53253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/>
                        <a:t>Existence of Budget</a:t>
                      </a:r>
                      <a:r>
                        <a:rPr lang="en-US" sz="1400" b="1" baseline="0" dirty="0"/>
                        <a:t> Proposal and Allocation</a:t>
                      </a:r>
                      <a:endParaRPr lang="en-US" sz="1400" b="1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/>
                        <a:t>Existence of Ordinance,</a:t>
                      </a:r>
                      <a:r>
                        <a:rPr lang="en-US" sz="1400" b="1" baseline="0" dirty="0"/>
                        <a:t> Executive Order, or Department Memo</a:t>
                      </a:r>
                      <a:endParaRPr lang="en-PH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/>
                        <a:t>% OF Under Five Consultations Managed</a:t>
                      </a:r>
                      <a:r>
                        <a:rPr lang="en-US" sz="1400" b="1" baseline="0" dirty="0"/>
                        <a:t> using IMCI Protocol</a:t>
                      </a:r>
                      <a:endParaRPr lang="en-US" sz="1400" b="1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/>
                        <a:t>% of Sick Children correctly classified</a:t>
                      </a:r>
                      <a:r>
                        <a:rPr lang="en-US" sz="1400" b="1" baseline="0" dirty="0"/>
                        <a:t> and treated</a:t>
                      </a:r>
                      <a:endParaRPr lang="en-PH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of</a:t>
                      </a:r>
                      <a:r>
                        <a:rPr lang="en-US" sz="1400" b="1" kern="100" baseline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Health Facilities Implementing IMCI</a:t>
                      </a:r>
                      <a:endParaRPr lang="en-PH" sz="1400" b="1" kern="100" baseline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of Trained Health Workers on IMCI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3150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Availability</a:t>
                      </a:r>
                      <a:r>
                        <a:rPr lang="en-US" sz="1400" b="1" kern="100" baseline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of IMCI essential medicines and logistics</a:t>
                      </a:r>
                      <a:endParaRPr lang="en-US" sz="1400" b="1" kern="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559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222489"/>
              </p:ext>
            </p:extLst>
          </p:nvPr>
        </p:nvGraphicFramePr>
        <p:xfrm>
          <a:off x="4983607" y="879143"/>
          <a:ext cx="6914014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2347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751667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WOMEN’S HEALTH CARE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3A7BA3-66FC-4B50-9FA0-B1F9907BA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360303"/>
              </p:ext>
            </p:extLst>
          </p:nvPr>
        </p:nvGraphicFramePr>
        <p:xfrm>
          <a:off x="607642" y="918448"/>
          <a:ext cx="3464824" cy="5892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4824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51227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6498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/>
                        <a:t>Existence of Budget</a:t>
                      </a:r>
                      <a:r>
                        <a:rPr lang="en-US" sz="1400" b="1" baseline="0" dirty="0"/>
                        <a:t> Proposal and Allocation</a:t>
                      </a:r>
                      <a:endParaRPr lang="en-US" sz="14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52466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of</a:t>
                      </a:r>
                      <a:r>
                        <a:rPr lang="en-US" sz="1400" b="1" kern="100" baseline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women 30-65 years old screened for cervical cancer</a:t>
                      </a:r>
                      <a:endParaRPr lang="en-US" sz="1400" b="1" kern="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of eligible women screened for breast cancer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of positive clients referred who completed</a:t>
                      </a:r>
                      <a:r>
                        <a:rPr lang="en-US" sz="1400" b="1" kern="100" baseline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referral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26498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/>
                        <a:t>% of Trained Providers</a:t>
                      </a:r>
                      <a:r>
                        <a:rPr lang="en-US" sz="1400" b="1" baseline="0" dirty="0"/>
                        <a:t> on VIA/CBE</a:t>
                      </a:r>
                      <a:endParaRPr lang="en-US" sz="1400" b="1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26498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/>
                        <a:t>% of</a:t>
                      </a:r>
                      <a:r>
                        <a:rPr lang="en-US" sz="1400" b="1" baseline="0" dirty="0"/>
                        <a:t> Facilities with no stock out of supplies</a:t>
                      </a:r>
                      <a:endParaRPr lang="en-PH" sz="1400" b="1" kern="100" baseline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679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356083"/>
              </p:ext>
            </p:extLst>
          </p:nvPr>
        </p:nvGraphicFramePr>
        <p:xfrm>
          <a:off x="4080933" y="879143"/>
          <a:ext cx="7816688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0645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242366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273677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MALE REPRODUCTIVE HEALTH CARE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85B4E8-1415-4C96-A142-D21280A82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128246"/>
              </p:ext>
            </p:extLst>
          </p:nvPr>
        </p:nvGraphicFramePr>
        <p:xfrm>
          <a:off x="294375" y="886219"/>
          <a:ext cx="3601349" cy="589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349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50789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3183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Ordinance/Executive Order/LHB Resolution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With Dedicated Budget Allocation for the Implementation of Male Reproductive Health Care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52338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Conducted Digital Rectal Examination Outreach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Conducted Men’s Health Lectures and Symposiums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Dedicated Male Reproductive Health Care Examination Room/ Clinic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21584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Male Reproductive Health Care Program Coordinator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Medical Specialist (In-house, LGU Hired  or Honorarium based)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21584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Purchase of Male Reproductive Health Care Commodities (Medicine and Supplies)</a:t>
                      </a:r>
                      <a:endParaRPr lang="en-PH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133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7316"/>
              </p:ext>
            </p:extLst>
          </p:nvPr>
        </p:nvGraphicFramePr>
        <p:xfrm>
          <a:off x="4214949" y="879143"/>
          <a:ext cx="7682670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74125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374762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233783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FAMILY PLANNING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8D9F2B-C216-4E97-BA14-FE274E9D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697790"/>
              </p:ext>
            </p:extLst>
          </p:nvPr>
        </p:nvGraphicFramePr>
        <p:xfrm>
          <a:off x="294375" y="886219"/>
          <a:ext cx="3601349" cy="5911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349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42877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3183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Ordinance/Executive Order/LHB Resolution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PHIC Accreditation and Reimbursement</a:t>
                      </a:r>
                    </a:p>
                    <a:p>
                      <a:pPr marL="285750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Family Planning 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52338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RHIS (Quarterly) Report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Data Quality Check (Attendance Sheet and Pictures)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BTL Demand Generation encoded in DHEARS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21584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Certified Service Provider (Renewed/Updated)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100 % of LGU Hired  and HRH Certified in FPBT 1 and FPCT 2, (PSI) and IUD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21584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Purchases Local Fund devolved Commodities (with PO)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Allocation of Commodities (with PTR)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Inventory of Commodities (per Barangay signed by BHS Manager)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975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39824"/>
              </p:ext>
            </p:extLst>
          </p:nvPr>
        </p:nvGraphicFramePr>
        <p:xfrm>
          <a:off x="4058194" y="879143"/>
          <a:ext cx="7839426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2297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388276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348853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NATIONAL IMMUNIZATION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D14EF3-4FB7-4188-856F-1B2573EEA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903473"/>
              </p:ext>
            </p:extLst>
          </p:nvPr>
        </p:nvGraphicFramePr>
        <p:xfrm>
          <a:off x="294376" y="887429"/>
          <a:ext cx="3676733" cy="5817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42877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3183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cap="small" baseline="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PASSAGE OF LOCAL ORDINANCE OR RESOLUTION OR EXECUTIVE ORDER SUPPORTING IMMUNIZATION PROGRAM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PRESENCE OF SIGNED AND FUNCTIONAL NIP MICROPLAN</a:t>
                      </a:r>
                      <a:endParaRPr lang="en-US" sz="1400" b="1" cap="small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52338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 OF FULLY IMMUNIZED CHILDREN (FIC) 13 MONTHS AND BELOW (</a:t>
                      </a:r>
                      <a:r>
                        <a:rPr lang="en-PH" sz="1400" b="1" i="1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BASED ON PROJECTED POP</a:t>
                      </a:r>
                      <a:r>
                        <a:rPr lang="en-PH" sz="1400" b="1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 OF FULLY IMMUNIZED CHILDREN (FIC) 13 MONTHS AND BELOW (</a:t>
                      </a:r>
                      <a:r>
                        <a:rPr lang="en-PH" sz="1400" b="1" i="1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BASED ON  LIVEBIRTHS</a:t>
                      </a:r>
                      <a:r>
                        <a:rPr lang="en-PH" sz="1400" b="1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21584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 OF IMMUNIZATION IMPLEMENTERS TRAINED ON BASIC NIP AND COLD CHAIN AND LOGISTICS MANAGEMENT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21584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PROPER VACCINE STORAGE MAINTAINED MONTHLY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TIMELY AND COMPLETE REPORTING OF VACCINE STOCK 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941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128800"/>
              </p:ext>
            </p:extLst>
          </p:nvPr>
        </p:nvGraphicFramePr>
        <p:xfrm>
          <a:off x="4197531" y="879143"/>
          <a:ext cx="7700090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6246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314515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349329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NUTRITION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47F290-4326-4078-A73B-F2C2F56E6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221502"/>
              </p:ext>
            </p:extLst>
          </p:nvPr>
        </p:nvGraphicFramePr>
        <p:xfrm>
          <a:off x="294376" y="880228"/>
          <a:ext cx="3676733" cy="589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49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Organization/Re-Organization/ Strengthening of the Local Nutrition Committee (C/MNC)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Adopt and implement national nutrition policies</a:t>
                      </a:r>
                      <a:endParaRPr lang="en-PH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87424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PH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Conduct of Nutritional Assessment</a:t>
                      </a:r>
                      <a:endParaRPr lang="en-PH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PH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 Plus &amp; school weighing report updated</a:t>
                      </a:r>
                      <a:endParaRPr lang="en-PH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PH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Nutrition situation report prepared</a:t>
                      </a:r>
                      <a:endParaRPr lang="en-PH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PH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Input of the Nutrition assessment in the </a:t>
                      </a:r>
                      <a:r>
                        <a:rPr lang="en-PH" sz="1400" b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DavNor</a:t>
                      </a:r>
                      <a:r>
                        <a:rPr lang="en-PH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Nutrition Management System (DNMS)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09392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Recruit and deploy adequate number of qualified nutrition personnel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Build capacity through training (NAO, NPC, BNS)</a:t>
                      </a:r>
                      <a:endParaRPr lang="en-PH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Conduct inventory of existing supplies and other commodities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596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91108"/>
              </p:ext>
            </p:extLst>
          </p:nvPr>
        </p:nvGraphicFramePr>
        <p:xfrm>
          <a:off x="4127863" y="879143"/>
          <a:ext cx="7769758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668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335610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DENTAL HEALTH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D711-4EC5-4524-B2B7-A213D3932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029161"/>
              </p:ext>
            </p:extLst>
          </p:nvPr>
        </p:nvGraphicFramePr>
        <p:xfrm>
          <a:off x="294376" y="880228"/>
          <a:ext cx="3676733" cy="5428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49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Accreditation of PhilHealth for Oral Health 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Attendance to Dental Meetings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AOP 2025 on Dental Health</a:t>
                      </a: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57773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Orally Fit Children (12-59 months old)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Pregnant Women seen by the Dentist (10-49 years old)</a:t>
                      </a: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109392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Dentist to Population Ratio (1:50,000)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Purchased of Dental Supplies, Medicines, Dental Instruments and Equipment</a:t>
                      </a: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817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494053"/>
              </p:ext>
            </p:extLst>
          </p:nvPr>
        </p:nvGraphicFramePr>
        <p:xfrm>
          <a:off x="4066903" y="879143"/>
          <a:ext cx="7830716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673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252096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220947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8B4F8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EXCLUSIVE BREASTFEEDING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E713DE-945F-4289-B018-37F180377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22063"/>
              </p:ext>
            </p:extLst>
          </p:nvPr>
        </p:nvGraphicFramePr>
        <p:xfrm>
          <a:off x="294376" y="880228"/>
          <a:ext cx="3676733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49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US" sz="1400" b="1" dirty="0">
                          <a:latin typeface="+mn-lt"/>
                        </a:rPr>
                        <a:t>Adoption of REPUBLIC ACT 10028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i="1" dirty="0">
                          <a:latin typeface="+mn-lt"/>
                        </a:rPr>
                        <a:t>  Expanded Breastfeeding Promotion Act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- DOH DEPARTMENT CIRCULAR NO. 2011-0365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  </a:t>
                      </a:r>
                      <a:r>
                        <a:rPr lang="en-US" sz="1400" b="1" i="1" dirty="0">
                          <a:latin typeface="+mn-lt"/>
                        </a:rPr>
                        <a:t>Guidelines for the Mother-Baby Friendly Workplace Certification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09392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/>
                        <a:t>Presence of coordinator handling breastfeeding program with Lactation Management and MBFHI Assessors Training</a:t>
                      </a:r>
                      <a:endParaRPr lang="en-PH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/>
                        <a:t>All Health Personnel &amp; Staff on CHO/MHO, Hospital and Birthing Facilities trained on Lactation Management Training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101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A788C6B-5788-40A3-ABDC-0D24C00372B9}"/>
              </a:ext>
            </a:extLst>
          </p:cNvPr>
          <p:cNvSpPr txBox="1">
            <a:spLocks/>
          </p:cNvSpPr>
          <p:nvPr/>
        </p:nvSpPr>
        <p:spPr>
          <a:xfrm>
            <a:off x="389792" y="2244912"/>
            <a:ext cx="11412416" cy="66281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ENVIRONMENTAL, OCCUPATIONAL HEALTH AND SANITATION</a:t>
            </a:r>
          </a:p>
        </p:txBody>
      </p:sp>
    </p:spTree>
    <p:extLst>
      <p:ext uri="{BB962C8B-B14F-4D97-AF65-F5344CB8AC3E}">
        <p14:creationId xmlns:p14="http://schemas.microsoft.com/office/powerpoint/2010/main" val="3627398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341374"/>
              </p:ext>
            </p:extLst>
          </p:nvPr>
        </p:nvGraphicFramePr>
        <p:xfrm>
          <a:off x="4180113" y="879143"/>
          <a:ext cx="7717507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4790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505770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276947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 PERFORMING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ENVIRONMENTAL HEALTH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D3BFF2-A69F-482E-8F01-1718CA83A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984203"/>
              </p:ext>
            </p:extLst>
          </p:nvPr>
        </p:nvGraphicFramePr>
        <p:xfrm>
          <a:off x="294376" y="879143"/>
          <a:ext cx="3676733" cy="5799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49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City/Municipal Ordinance/Executive Order: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ZOD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LDWQMC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WSP (Trained WRSO, BAWASA, WATER DISTRICTS)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Water, Sanitation, and Hygiene (WASH)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PD 856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Local Sustainable Sanitation Plan 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Safely Managed Sanitation Services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Basic Sanitation Facility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Safely Managed Water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  <a:endParaRPr lang="en-PH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Dedicated Sanitation Inspector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Purchase Commodities for Environmental Health through Local Budget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582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354445"/>
              </p:ext>
            </p:extLst>
          </p:nvPr>
        </p:nvGraphicFramePr>
        <p:xfrm>
          <a:off x="4310743" y="879143"/>
          <a:ext cx="7586876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1246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396690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298940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VECTOR CONTROL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94F557-AAB0-410E-9CC0-BEED950D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064212"/>
              </p:ext>
            </p:extLst>
          </p:nvPr>
        </p:nvGraphicFramePr>
        <p:xfrm>
          <a:off x="294376" y="914860"/>
          <a:ext cx="3676733" cy="5222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Ordinance/E.O. in Dengue City/Municipal/Barangay Task Force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Dengue Vector Surveillance Activities 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Spraymen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during Misting/IRS activities</a:t>
                      </a:r>
                      <a:endParaRPr lang="en-PH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 </a:t>
                      </a: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With Dedicated Budget Allocation on Dengue Program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PH" sz="1400" b="1" dirty="0">
                          <a:effectLst/>
                          <a:latin typeface="+mn-lt"/>
                        </a:rPr>
                      </a:b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● Dengue NS1 kits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● Chemicals for</a:t>
                      </a:r>
                      <a:r>
                        <a:rPr lang="en-PH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PH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larvicidal,misting</a:t>
                      </a: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/fogging/IRS other Aedes Borne Program</a:t>
                      </a:r>
                      <a:endParaRPr lang="en-PH" sz="1400" b="1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565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A788C6B-5788-40A3-ABDC-0D24C00372B9}"/>
              </a:ext>
            </a:extLst>
          </p:cNvPr>
          <p:cNvSpPr txBox="1">
            <a:spLocks/>
          </p:cNvSpPr>
          <p:nvPr/>
        </p:nvSpPr>
        <p:spPr>
          <a:xfrm>
            <a:off x="389792" y="2244912"/>
            <a:ext cx="11412416" cy="66281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DISEASE PREVENTION AND CONTROL</a:t>
            </a:r>
          </a:p>
        </p:txBody>
      </p:sp>
    </p:spTree>
    <p:extLst>
      <p:ext uri="{BB962C8B-B14F-4D97-AF65-F5344CB8AC3E}">
        <p14:creationId xmlns:p14="http://schemas.microsoft.com/office/powerpoint/2010/main" val="1327752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731057"/>
              </p:ext>
            </p:extLst>
          </p:nvPr>
        </p:nvGraphicFramePr>
        <p:xfrm>
          <a:off x="4397829" y="879143"/>
          <a:ext cx="7499791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17074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412274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370443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TB PREVENTION AND CONTROL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0E6B12-D014-4FF9-854A-C47AA752C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838499"/>
              </p:ext>
            </p:extLst>
          </p:nvPr>
        </p:nvGraphicFramePr>
        <p:xfrm>
          <a:off x="390171" y="882908"/>
          <a:ext cx="3676733" cy="5867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DOH-certified DOTS facility 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PhilHealth-accredited DOTS facility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With approved local ordinance supporting the TB program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 Treatment Coverage Rate ≥ 90% (2025)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DSTB Treatment Success Rate ≥ 90% (Cohort 2024)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DSTB Cure Rate ≥ 85% (Cohort 2024)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TPT Coverage (2025 vs. 2024) with ≥5% increase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an NTP Core Team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All core team members trained in the latest TB training (Nov 2025 – Tagum City) 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identified TB Community Health Workers (TB CHWs)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Availability of the following TB commodities </a:t>
                      </a:r>
                      <a:r>
                        <a:rPr lang="en-US" sz="1200" b="1" i="0" u="sng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during the assessment period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  <a:p>
                      <a:pPr marL="742950" lvl="1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Anti-TB medications (DSTB regimen) </a:t>
                      </a:r>
                    </a:p>
                    <a:p>
                      <a:pPr marL="742950" lvl="1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Sputum collection cups </a:t>
                      </a:r>
                    </a:p>
                    <a:p>
                      <a:pPr marL="742950" lvl="1" indent="-28575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TPT medications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447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162025"/>
              </p:ext>
            </p:extLst>
          </p:nvPr>
        </p:nvGraphicFramePr>
        <p:xfrm>
          <a:off x="4467497" y="879143"/>
          <a:ext cx="7430122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7089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341857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251176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STI/HIV PREVENTION AND CONTROL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90CB28-228E-4F6E-85E3-39340C313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873200"/>
              </p:ext>
            </p:extLst>
          </p:nvPr>
        </p:nvGraphicFramePr>
        <p:xfrm>
          <a:off x="390171" y="882908"/>
          <a:ext cx="3676733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Local Policy (Executive Order/ Ordinance) on creation of LACs with multi-sectoral composition and corresponding functions, as harmonized with RA 11166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Functional Local AIDS Council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Conduct regular differentiated HIV testing  services (Facility Based Screening and Community Based Screening)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Conduct thematic events (AIDS Candlelight Memorial, World AIDS Day)  with Community Based Screening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STI, HIV coordinator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With staff trained on STI case management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With staff trained on HIV counseling and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Purchased of medicines for management of STIs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Purchased of other logistics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       (HIV/Syphilis/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HbsAg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test kits, condoms and lubes, IEC materials, etc.)</a:t>
                      </a:r>
                      <a:endParaRPr lang="en-US" sz="1400" b="1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480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956840"/>
              </p:ext>
            </p:extLst>
          </p:nvPr>
        </p:nvGraphicFramePr>
        <p:xfrm>
          <a:off x="4415246" y="879143"/>
          <a:ext cx="7482374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0617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447108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274649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dirty="0">
                          <a:effectLst/>
                          <a:latin typeface="+mn-lt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PERFORMANCE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RABIES PREVENTION AND CONTROL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053E73-198E-4566-A8EB-7C34278B3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70787"/>
              </p:ext>
            </p:extLst>
          </p:nvPr>
        </p:nvGraphicFramePr>
        <p:xfrm>
          <a:off x="390171" y="882908"/>
          <a:ext cx="3676733" cy="5926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Presence of an approved Local Rabies under RA 9482 or the Anti Rabies Act of 2007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Annual budget allocation for rabies control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DOH Certified ABTC Facility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PhilHealth Accredited ABTC Facility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 of total patients seen who completed Post-Exposure Prophylaxis (PEP) – at least 3 doses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Timely Submission of Reports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Dedicated Rabies Prevention and Control Program Coordinator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Presence of Trained Physician for Animal Bite Treatment Center 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Presence of Trained Nurse for Animal Bite Treatment Center</a:t>
                      </a: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Availability of Rabies Immunoglobulin (RIG)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Availability of anti-rabies vaccines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732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46484"/>
              </p:ext>
            </p:extLst>
          </p:nvPr>
        </p:nvGraphicFramePr>
        <p:xfrm>
          <a:off x="4432663" y="879143"/>
          <a:ext cx="7464957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0286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299062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335609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TOBACCO PREVENTION AND CONTROL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6A3742-D117-492A-AE1D-04508F688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146703"/>
              </p:ext>
            </p:extLst>
          </p:nvPr>
        </p:nvGraphicFramePr>
        <p:xfrm>
          <a:off x="390171" y="882908"/>
          <a:ext cx="3676733" cy="5499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GOVERNANCE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 or municipal resolution or ordinance on tobacco control/anti-smoking initiatives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Budget allotted for tobacco control program activities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Presence of Smoking Cessation Clinic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 of  LGU personnel classification according to their smoking status  (all employees not limited to the Health Office)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group/s  created for smokers who quit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HUMAN RESOURCE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Presence of coordinator/s handling tobacco prevention and control program w/ Smoking Cessation &amp; MPOWER Training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Presence of enforcers implementing the city or municipal resolution or ordinance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Availability of Social Behavioral Change Communication Materials developed or reproduced and disseminated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05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50775"/>
              </p:ext>
            </p:extLst>
          </p:nvPr>
        </p:nvGraphicFramePr>
        <p:xfrm>
          <a:off x="5869577" y="870857"/>
          <a:ext cx="5305232" cy="58794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9291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265941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8034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NON COMMUNICABLE DISEASE PREVENTION AND CONTROL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CE1ECB-61CC-4B6B-9E23-683EE8E97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948221"/>
              </p:ext>
            </p:extLst>
          </p:nvPr>
        </p:nvGraphicFramePr>
        <p:xfrm>
          <a:off x="1104274" y="870857"/>
          <a:ext cx="3676733" cy="4859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Approved </a:t>
                      </a:r>
                      <a:r>
                        <a:rPr lang="en-US" sz="1400" b="1" kern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PhilPEN</a:t>
                      </a: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Annual Operational Plan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of Local Policies Supporting NCD Prevention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Conduct of Program Review and Monitoring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SERVICE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Adults Assessed Using </a:t>
                      </a:r>
                      <a:r>
                        <a:rPr lang="en-US" sz="1400" b="1" kern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PhilPEN</a:t>
                      </a: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Protocol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Hypertensive Patients Managed and Monitored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Diabetic Patients Managed and Monitored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of Trained </a:t>
                      </a:r>
                      <a:r>
                        <a:rPr lang="en-US" sz="1400" b="1" kern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PhilPEN</a:t>
                      </a: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Providers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Community Health Team (CHT)/BHW Engagement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of </a:t>
                      </a:r>
                      <a:r>
                        <a:rPr lang="en-US" sz="1400" b="1" kern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PhilPEN</a:t>
                      </a: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Forms and CVD Risk Charts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of Essential NCD Medicines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488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285588"/>
              </p:ext>
            </p:extLst>
          </p:nvPr>
        </p:nvGraphicFramePr>
        <p:xfrm>
          <a:off x="4362994" y="879143"/>
          <a:ext cx="7534627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1691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228653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304283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MENTAL HEALTH PROGRAM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E53804-33AB-4D0E-A31B-A3CB7ACBF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55497"/>
              </p:ext>
            </p:extLst>
          </p:nvPr>
        </p:nvGraphicFramePr>
        <p:xfrm>
          <a:off x="529508" y="887429"/>
          <a:ext cx="3676733" cy="4758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Approved Mental Health Annual Operational Plan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Mental Health Policy/Ordinance Implemented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SERVICE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Conduct Mental Health Consultation 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Conduct of Mental Health Promotion Activities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of Trained Mental Health Focal Persons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of Mental Health Professionals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of Psychotropic Medicines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of Mental Health IEC Materials</a:t>
                      </a:r>
                      <a:endParaRPr lang="en-PH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860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A788C6B-5788-40A3-ABDC-0D24C00372B9}"/>
              </a:ext>
            </a:extLst>
          </p:cNvPr>
          <p:cNvSpPr txBox="1">
            <a:spLocks/>
          </p:cNvSpPr>
          <p:nvPr/>
        </p:nvSpPr>
        <p:spPr>
          <a:xfrm>
            <a:off x="389792" y="2244912"/>
            <a:ext cx="11412416" cy="662811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  <a:ea typeface="+mj-ea"/>
                <a:cs typeface="+mj-cs"/>
              </a:rPr>
              <a:t>ALLIED HEALTH SERVICES</a:t>
            </a:r>
          </a:p>
        </p:txBody>
      </p:sp>
    </p:spTree>
    <p:extLst>
      <p:ext uri="{BB962C8B-B14F-4D97-AF65-F5344CB8AC3E}">
        <p14:creationId xmlns:p14="http://schemas.microsoft.com/office/powerpoint/2010/main" val="1975137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54795"/>
              </p:ext>
            </p:extLst>
          </p:nvPr>
        </p:nvGraphicFramePr>
        <p:xfrm>
          <a:off x="4362994" y="879143"/>
          <a:ext cx="7534626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0286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444461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259879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HEALTH EDUCATION AND PROMOTION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6F149F-97C2-4371-9B6E-72882A8A7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115423"/>
              </p:ext>
            </p:extLst>
          </p:nvPr>
        </p:nvGraphicFramePr>
        <p:xfrm>
          <a:off x="529508" y="887429"/>
          <a:ext cx="3676733" cy="4895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33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Number of Approved POLICY for the  7 Priority Area of Health Promotion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Budget Allocation and utilization for Health Promotion</a:t>
                      </a:r>
                      <a:endParaRPr lang="en-PH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SERVICE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Completed and verified Self-Appraisal Checklist in the Implementation of 7 Priority Areas of Health Promotion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Best Practices/Innovations in Health Promotion</a:t>
                      </a:r>
                      <a:endParaRPr lang="en-PH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Designation of Health Promotion Officer </a:t>
                      </a:r>
                      <a:endParaRPr lang="en-PH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COMMODITIES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-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IEC/SBCC Materials/Health Promotion Collaterals produced/reproduced</a:t>
                      </a:r>
                      <a:endParaRPr lang="en-PH" sz="14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/distributed/ installed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405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822134"/>
              </p:ext>
            </p:extLst>
          </p:nvPr>
        </p:nvGraphicFramePr>
        <p:xfrm>
          <a:off x="4519749" y="879143"/>
          <a:ext cx="7377871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988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299063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448820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EPIDEMIOLOGY AND SURVEILLANCE SYSTEM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3495D9-FC6D-4766-988C-6DA335A6C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872488"/>
              </p:ext>
            </p:extLst>
          </p:nvPr>
        </p:nvGraphicFramePr>
        <p:xfrm>
          <a:off x="294376" y="887429"/>
          <a:ext cx="4112161" cy="5499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2161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GOVERNANCE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 signed and approved Ordinance or Executive Order establishing the Epidemiology and Surveillance Unit (ESU) is available and current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An approved annual budget is allocated specifically for ESU operations</a:t>
                      </a:r>
                      <a:endParaRPr 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At least one multi-sectoral meeting with partners and stakeholders is conducted per quarter, with minutes and attendance documented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≥80% of category 1 and category 2 cases are submitted on or before the prescribed deadline.</a:t>
                      </a:r>
                      <a:endParaRPr 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HUMAN RESOURCE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At least one officially designated Disease Surveillance Officer (DSO) and one Epidemiology Assistant are appointed through a signed Executive Order, Office Order, or appointment letter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COMMODITIES</a:t>
                      </a:r>
                      <a:endParaRPr lang="en-US" sz="1400" b="1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u="none" strike="noStrike" cap="none" dirty="0">
                          <a:latin typeface="+mn-lt"/>
                        </a:rPr>
                        <a:t>The ESU has adequate functional workspace, including tables and chairs for staff use.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402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043676"/>
              </p:ext>
            </p:extLst>
          </p:nvPr>
        </p:nvGraphicFramePr>
        <p:xfrm>
          <a:off x="5233851" y="879143"/>
          <a:ext cx="6663768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72415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1798874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1792479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DISASTER RISK REDUCTION AND MANAGEMENT IN HEALTH (DRRM H) SYSTEM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936947-A4CA-4827-A2FA-4DF079420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637560"/>
              </p:ext>
            </p:extLst>
          </p:nvPr>
        </p:nvGraphicFramePr>
        <p:xfrm>
          <a:off x="503382" y="879143"/>
          <a:ext cx="4112161" cy="4859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2161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GOVERNANCE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Approved Local DRRM-H Plan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Updated and Tested DRRM-H Plan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Documentation of Drills and Exercises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Ordinance or LHB Resolution on the Organization of DRRM-H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SERVICE DELIVERY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PH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Functional Emergency Operation Center: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PH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Presence of Organizational Structure and their functions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PH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HEOC Schedule of Duties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HUMAN RESOURCE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PH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Office Order on Composition and Function of Public Health Emergency Response Team (HERT)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PH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Trained HERT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 list of Inventory of Health Emergency Commodities</a:t>
                      </a:r>
                      <a:endParaRPr lang="en-US" sz="1400" b="1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668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546329"/>
              </p:ext>
            </p:extLst>
          </p:nvPr>
        </p:nvGraphicFramePr>
        <p:xfrm>
          <a:off x="4502331" y="879143"/>
          <a:ext cx="7395290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4492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373490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287308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NEEDS IMPROVEMENT</a:t>
                      </a:r>
                      <a:endParaRPr lang="en-PH" sz="1400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ADOLESCENT HEALTH AND YOUTH DEVELOPMENT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F6B050-E40B-437F-AA1A-DB0730DE3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758481"/>
              </p:ext>
            </p:extLst>
          </p:nvPr>
        </p:nvGraphicFramePr>
        <p:xfrm>
          <a:off x="294376" y="879143"/>
          <a:ext cx="3894447" cy="5159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4447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GOVERNANCE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PH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Presence of Ordinance/EO/Adoption on Adolescent Health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PH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Budget Allocation on AHYDP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PH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Attendance to Provincial AHYDP Coordinators Regular Meetings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PH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Utilization of DHIMS in  the AHYDP program  implementation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SERVICE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Certified Level 1-2  Adolescent-Friendly  Facility (RHU-based)</a:t>
                      </a:r>
                      <a:endParaRPr lang="en-U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Practices with Documentation</a:t>
                      </a:r>
                      <a:endParaRPr lang="en-PH" sz="1400" b="1" i="0" u="non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HUMAN RESOURCE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Designation of the AHYDP Program Coordinator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COMMODITIES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PH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Availability of Required Commodities (DOH Level 1 Standard)</a:t>
                      </a:r>
                      <a:endParaRPr lang="en-U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409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44A172-13D3-4358-AB13-191C3B29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893077"/>
              </p:ext>
            </p:extLst>
          </p:nvPr>
        </p:nvGraphicFramePr>
        <p:xfrm>
          <a:off x="4241074" y="879143"/>
          <a:ext cx="7656545" cy="587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0286">
                  <a:extLst>
                    <a:ext uri="{9D8B030D-6E8A-4147-A177-3AD203B41FA5}">
                      <a16:colId xmlns:a16="http://schemas.microsoft.com/office/drawing/2014/main" val="1638732846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3856470817"/>
                    </a:ext>
                  </a:extLst>
                </a:gridCol>
                <a:gridCol w="2474945">
                  <a:extLst>
                    <a:ext uri="{9D8B030D-6E8A-4147-A177-3AD203B41FA5}">
                      <a16:colId xmlns:a16="http://schemas.microsoft.com/office/drawing/2014/main" val="2958448594"/>
                    </a:ext>
                  </a:extLst>
                </a:gridCol>
              </a:tblGrid>
              <a:tr h="795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LGU</a:t>
                      </a:r>
                      <a:endParaRPr lang="en-PH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2025</a:t>
                      </a:r>
                      <a:endParaRPr lang="en-PH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6599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TAGUM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85601"/>
                  </a:ext>
                </a:extLst>
              </a:tr>
              <a:tr h="40020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CITY OF PANABO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191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+mn-lt"/>
                        </a:rPr>
                        <a:t>ISLAND GARDEN CITY OF SAMAL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00263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endParaRPr 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624537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NEW CORELLA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744409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SAWATA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9434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KAPALONG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32624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ASUNCION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7985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TALAINGOD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1912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B.E. DUJALI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PERFORMING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8972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CARMEN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NEEDS IMPROVEMENT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09296"/>
                  </a:ext>
                </a:extLst>
              </a:tr>
              <a:tr h="42507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n-lt"/>
                        </a:rPr>
                        <a:t>MUNICIPALITY OF STO. TOMAS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MODERATE PERFORMANCE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MODERATE PERFORMANCE</a:t>
                      </a:r>
                      <a:endParaRPr kumimoji="0" lang="en-P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5417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419908E-6E82-43E7-A6C7-7F5A7320556C}"/>
              </a:ext>
            </a:extLst>
          </p:cNvPr>
          <p:cNvSpPr txBox="1">
            <a:spLocks/>
          </p:cNvSpPr>
          <p:nvPr/>
        </p:nvSpPr>
        <p:spPr>
          <a:xfrm>
            <a:off x="294376" y="107656"/>
            <a:ext cx="11603245" cy="662811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Condensed" panose="02060603050405020104" pitchFamily="18" charset="0"/>
              </a:rPr>
              <a:t>POPULATION MANAGEMENT SERVICES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EB94EE-91A8-45DD-B729-835AB16BE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589066"/>
              </p:ext>
            </p:extLst>
          </p:nvPr>
        </p:nvGraphicFramePr>
        <p:xfrm>
          <a:off x="294376" y="879143"/>
          <a:ext cx="3842195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2195">
                  <a:extLst>
                    <a:ext uri="{9D8B030D-6E8A-4147-A177-3AD203B41FA5}">
                      <a16:colId xmlns:a16="http://schemas.microsoft.com/office/drawing/2014/main" val="2385004676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KEY PILLARS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57719"/>
                  </a:ext>
                </a:extLst>
              </a:tr>
              <a:tr h="12954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GOVERNANCE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Copies of the LGUs Approved Comprehensive Development Plan (CDP) and Annual Investment Program (AIP) on PPD-POA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Copies of Project Proposals or implementation plans for specific Population and Development (POPDEV) activities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97485"/>
                  </a:ext>
                </a:extLst>
              </a:tr>
              <a:tr h="113253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SERVICE DELIVERY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There is resources for local POPDEV strategies and activities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Presence of Health Programs Utilizing the DHIMS Health Data</a:t>
                      </a:r>
                      <a:endParaRPr lang="en-US" sz="1400" b="1" i="0" u="non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65375"/>
                  </a:ext>
                </a:extLst>
              </a:tr>
              <a:tr h="84367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HUMAN RESOURCE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There is a designated Population and Development Program Officer or designate who will handle Population and Development Program in the LGU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6775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COMMODITIES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dirty="0">
                          <a:latin typeface="+mn-lt"/>
                        </a:rPr>
                        <a:t>Allocation of Commodities for POPDEV Activities such as the following: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dirty="0">
                          <a:latin typeface="+mn-lt"/>
                        </a:rPr>
                        <a:t>SBCC Materials for Adolescent Health and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7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79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3345</TotalTime>
  <Words>4539</Words>
  <Application>Microsoft Office PowerPoint</Application>
  <PresentationFormat>Widescreen</PresentationFormat>
  <Paragraphs>1348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SimSun</vt:lpstr>
      <vt:lpstr>Arial</vt:lpstr>
      <vt:lpstr>Calibri</vt:lpstr>
      <vt:lpstr>Calibri Light</vt:lpstr>
      <vt:lpstr>Rockwell Condensed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SUMMIT 2025</dc:title>
  <dc:creator>User</dc:creator>
  <cp:lastModifiedBy>User</cp:lastModifiedBy>
  <cp:revision>383</cp:revision>
  <cp:lastPrinted>2026-10-19T08:31:45Z</cp:lastPrinted>
  <dcterms:created xsi:type="dcterms:W3CDTF">2025-07-15T00:31:46Z</dcterms:created>
  <dcterms:modified xsi:type="dcterms:W3CDTF">2026-10-19T08:49:21Z</dcterms:modified>
</cp:coreProperties>
</file>