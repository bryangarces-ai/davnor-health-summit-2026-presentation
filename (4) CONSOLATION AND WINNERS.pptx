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384" r:id="rId3"/>
    <p:sldId id="385" r:id="rId4"/>
    <p:sldId id="386" r:id="rId5"/>
    <p:sldId id="387" r:id="rId6"/>
    <p:sldId id="390" r:id="rId7"/>
    <p:sldId id="388" r:id="rId8"/>
    <p:sldId id="389" r:id="rId9"/>
    <p:sldId id="391" r:id="rId10"/>
    <p:sldId id="393" r:id="rId11"/>
    <p:sldId id="394" r:id="rId12"/>
    <p:sldId id="395" r:id="rId13"/>
    <p:sldId id="396" r:id="rId14"/>
    <p:sldId id="264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3" r:id="rId31"/>
    <p:sldId id="412" r:id="rId32"/>
    <p:sldId id="41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4610-4DF2-4DC5-8F1E-6D2EB8E2E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37682-57B4-4646-A0A2-0F3AB8532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2C1E-8C81-460E-BFA8-3045643B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86D94-1DC3-42C6-A463-F0CA58FF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2D321-C9D6-4BAC-A4C8-0C716CEF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54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35CF-0448-400B-A478-44F0F20F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C9177-31B8-48D2-9D19-0A6FF61E6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B1456-0DB8-4B45-87C3-757D1729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DBD16-8579-4B38-87D6-22869EB3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8ED39-5D65-4A99-9043-F73BAF75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220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BAD7-1071-4FE9-811E-9E6E4E05B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67903-1B6C-4619-85F0-C545D521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BBD51-F9C1-48FD-B3F6-AA989847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5F6B-2A53-4C6D-962B-1169567D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4B95F-EC07-42F5-95EE-9CBEE195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158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8831-9F3B-4538-9B15-9DFF2FC4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02B4D-F572-4E37-BDC4-EFB7BB5C2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39D41-1B37-4101-B5E2-D6212C087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60B8-82F2-4479-B72E-FDD93142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68DEF-773A-4711-A8D1-BA4DCF1A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BFC00-BD16-4CD3-808D-D435B16D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714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1933-1C02-4770-AB71-4E6505DC6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9C67-B081-4BC6-AF13-493FF27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818F7-3B45-44AE-B783-C95E863CB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B4C56-580E-458A-8FCE-2B0BFB21F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4C6C1-1042-4130-9AB7-CB6E2DA2E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2531A-DFB7-48BF-A393-35C8DD65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4E56A-CF3D-4A40-95C2-1E5B362D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604B3-27CA-4D80-BF07-8322869A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525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6730-ECD7-4BF9-9C98-DB215E93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C740B-20C6-40E7-B05F-0ACDDE23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A962F-A902-44D6-AB9C-82B7B30B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4A1E2-B9CB-4305-9708-BED9578B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893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918C2-24BC-410B-A748-76BD22BD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3729E-0007-4C04-841C-851FC6BF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1E170-CCE1-497E-8200-DD6375B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269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66CE-6565-403C-AFF2-16AB4D47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B9302-4E9F-40CC-8900-6FE8DC2BF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FF21F-6D68-4545-8835-5ED2EB2EE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F186B-D64D-4FFD-AF40-E04F1CA2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E7809-7A39-4A0D-956F-1FCCE05B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BDA39-12DA-442A-BBD6-9A2EBC82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263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5EC2-172F-420A-BA1E-113FA146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7E9D4-79EE-4A61-A0BC-EB2FB7AFD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E80FA-524E-4749-8FBA-A144C28A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DC285-D764-4B48-81D6-73AB3483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D60A4-6ACD-4739-887F-9FFD7896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32765-7368-415D-B242-26C4CADA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04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BD65-2A3E-4AE5-80F9-EDD451A0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04699-B048-43A4-8137-AA14E9094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00A6-BDA1-4C63-98F1-595E44E4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E2D7D-8B32-4048-AD26-02D58F8C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FCD0A-F62C-419B-B7AD-AC5023D4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124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32093-066E-4D71-9408-64C591FF2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93A49-5EED-440A-B87D-D6B6E6FE6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E6669-65B7-4BA0-BCF8-F287CCAC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67266-474E-4632-9978-21E2A96D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FE8EB-56B5-4BCE-8350-D1C3BB86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016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3B237-D23D-41B9-BE0D-064B649D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6EEE7-6412-49C0-BC9C-F70FF6600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64CC5-9C84-4277-9E17-BD2E1BAD8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96CD2-E752-4442-A9BA-6AF62EDE32E0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89DB9-E987-4627-B250-0ACD97294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8061E-9C55-4F23-B5BA-C9E967017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B657C-850B-49AB-9CA2-7F9FEFC478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93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NUL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AWARDING OF CONSOLATION BARANGAYS AND MUNICIPALITIES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7752" y="2909894"/>
            <a:ext cx="9297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CATEGORY</a:t>
            </a:r>
          </a:p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CATEGORY</a:t>
            </a:r>
          </a:p>
        </p:txBody>
      </p:sp>
    </p:spTree>
    <p:extLst>
      <p:ext uri="{BB962C8B-B14F-4D97-AF65-F5344CB8AC3E}">
        <p14:creationId xmlns:p14="http://schemas.microsoft.com/office/powerpoint/2010/main" val="9454062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LUNGA-OG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STO. TOMAS</a:t>
            </a:r>
          </a:p>
        </p:txBody>
      </p:sp>
    </p:spTree>
    <p:extLst>
      <p:ext uri="{BB962C8B-B14F-4D97-AF65-F5344CB8AC3E}">
        <p14:creationId xmlns:p14="http://schemas.microsoft.com/office/powerpoint/2010/main" val="282722040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SALVACION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STO. TOMAS</a:t>
            </a:r>
          </a:p>
        </p:txBody>
      </p:sp>
    </p:spTree>
    <p:extLst>
      <p:ext uri="{BB962C8B-B14F-4D97-AF65-F5344CB8AC3E}">
        <p14:creationId xmlns:p14="http://schemas.microsoft.com/office/powerpoint/2010/main" val="5785904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STA. FE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326908554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PATROCENIO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257893668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STA. CRUZ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185927277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ESPERANZA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STO. TOMAS</a:t>
            </a:r>
          </a:p>
        </p:txBody>
      </p:sp>
    </p:spTree>
    <p:extLst>
      <p:ext uri="{BB962C8B-B14F-4D97-AF65-F5344CB8AC3E}">
        <p14:creationId xmlns:p14="http://schemas.microsoft.com/office/powerpoint/2010/main" val="322296966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KIOTOY 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OF PANABO</a:t>
            </a:r>
          </a:p>
        </p:txBody>
      </p:sp>
    </p:spTree>
    <p:extLst>
      <p:ext uri="{BB962C8B-B14F-4D97-AF65-F5344CB8AC3E}">
        <p14:creationId xmlns:p14="http://schemas.microsoft.com/office/powerpoint/2010/main" val="162986526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9286" y="1193619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1939372"/>
            <a:ext cx="10261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SAWATA</a:t>
            </a:r>
          </a:p>
          <a:p>
            <a:pPr algn="ctr"/>
            <a:endParaRPr lang="en-US" sz="1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51.07% of the Health Summit 2026 Indicators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Donation Rate of 1.17% with a total of 321 Blood Donations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39611297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9286" y="1193619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226" y="1930905"/>
            <a:ext cx="1138766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ASUNCION</a:t>
            </a:r>
          </a:p>
          <a:p>
            <a:pPr algn="ctr"/>
            <a:endParaRPr lang="en-US" sz="1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58.42% of the Health Summit 2026 Indicators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Highest Donation Rate of 1.92% with a total of 1,212 Blood Donations</a:t>
            </a:r>
          </a:p>
        </p:txBody>
      </p:sp>
    </p:spTree>
    <p:extLst>
      <p:ext uri="{BB962C8B-B14F-4D97-AF65-F5344CB8AC3E}">
        <p14:creationId xmlns:p14="http://schemas.microsoft.com/office/powerpoint/2010/main" val="413550833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9286" y="1193619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226" y="1930905"/>
            <a:ext cx="113876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TALAINGOD</a:t>
            </a:r>
          </a:p>
          <a:p>
            <a:pPr algn="ctr"/>
            <a:endParaRPr lang="en-US" sz="1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59.24% of the Health Summit 2026 Indicators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Donation Rate of 0.67% with a total of 193 Blood Donations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346108217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9286" y="1193619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226" y="1930905"/>
            <a:ext cx="113876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CARMEN</a:t>
            </a:r>
          </a:p>
          <a:p>
            <a:pPr algn="ctr"/>
            <a:endParaRPr lang="en-US" sz="1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64.07% of the Health Summit 2026 Indicators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THE OPERATIONS OF BARANGAY HEALTH WORKER (BHW) PROGRAM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FAMILY PLANNING PROGRAM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Donation Rate of 1.30% with a total of 1,110 Blood Donations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231313677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9286" y="1193619"/>
            <a:ext cx="9297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226" y="1930905"/>
            <a:ext cx="11387667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KAPALONG</a:t>
            </a:r>
          </a:p>
          <a:p>
            <a:pPr algn="ctr"/>
            <a:endParaRPr lang="en-US" sz="16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68.78% of the Health Summit 2026 Indicators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NUTRITION PROGRAM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TB PREVENTION AND CONTROL PROGRAM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EPIDEMIOLOGY AND SURVEILLANCE SYSTEM PROGRAM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3rd Highest Donation Rate of 1.55% with a total of 1,251 Blood Donation</a:t>
            </a:r>
          </a:p>
          <a:p>
            <a:pPr algn="ctr"/>
            <a:endParaRPr lang="en-US" sz="9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321420164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2" y="1584798"/>
            <a:ext cx="9297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AWARDING OF TOP PERFORMING BARANGAYS, CITIES AND MUNICIPALITIES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7752" y="3578760"/>
            <a:ext cx="9297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BARANGAY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CITIES</a:t>
            </a:r>
          </a:p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3 PERFORMING MUNICIPALITIES</a:t>
            </a:r>
          </a:p>
        </p:txBody>
      </p:sp>
    </p:spTree>
    <p:extLst>
      <p:ext uri="{BB962C8B-B14F-4D97-AF65-F5344CB8AC3E}">
        <p14:creationId xmlns:p14="http://schemas.microsoft.com/office/powerpoint/2010/main" val="361374049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3</a:t>
            </a:r>
            <a:r>
              <a:rPr lang="en-US" sz="44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RD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TOP 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SAN MIGUEL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STO. TOMAS</a:t>
            </a:r>
          </a:p>
        </p:txBody>
      </p:sp>
    </p:spTree>
    <p:extLst>
      <p:ext uri="{BB962C8B-B14F-4D97-AF65-F5344CB8AC3E}">
        <p14:creationId xmlns:p14="http://schemas.microsoft.com/office/powerpoint/2010/main" val="57045992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3723" y="1377476"/>
            <a:ext cx="101707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2</a:t>
            </a:r>
            <a:r>
              <a:rPr lang="en-US" sz="44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ND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TOP 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226" y="2371172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SAN JOSE 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</p:txBody>
      </p:sp>
    </p:spTree>
    <p:extLst>
      <p:ext uri="{BB962C8B-B14F-4D97-AF65-F5344CB8AC3E}">
        <p14:creationId xmlns:p14="http://schemas.microsoft.com/office/powerpoint/2010/main" val="50732143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0533" y="1551042"/>
            <a:ext cx="9979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BARANGAY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352" y="2313506"/>
            <a:ext cx="9297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BARANGAY MONTE DUJALI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SAWATA</a:t>
            </a:r>
          </a:p>
        </p:txBody>
      </p:sp>
    </p:spTree>
    <p:extLst>
      <p:ext uri="{BB962C8B-B14F-4D97-AF65-F5344CB8AC3E}">
        <p14:creationId xmlns:p14="http://schemas.microsoft.com/office/powerpoint/2010/main" val="425202497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3</a:t>
            </a:r>
            <a:r>
              <a:rPr lang="en-US" sz="66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RD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</a:t>
            </a:r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ISLAND GARDEN CITY OF SAMAL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74.22% of the Health Summit 2026 Indicators</a:t>
            </a:r>
          </a:p>
        </p:txBody>
      </p:sp>
    </p:spTree>
    <p:extLst>
      <p:ext uri="{BB962C8B-B14F-4D97-AF65-F5344CB8AC3E}">
        <p14:creationId xmlns:p14="http://schemas.microsoft.com/office/powerpoint/2010/main" val="8037204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3</a:t>
            </a:r>
            <a:r>
              <a:rPr lang="en-US" sz="66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RD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</a:t>
            </a:r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ISLAND GARDEN CITY OF SAMAL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MALE REPRODUCTIVE HEALTH CARE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NUTRITION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TOBACCO PREVENTION AND CONTROL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MENTAL HEALTH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HEALTH EDUCATION AND PROMOTION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ENVIRONMENTAL, OCCUPATIONAL HEALTH AND SANITATION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3rd Highest Donation Rate of 1.36% with a total of 1,632 Blood Donations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192768108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2</a:t>
            </a:r>
            <a:r>
              <a:rPr lang="en-US" sz="66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ND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</a:t>
            </a:r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OF PANABO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88.03% of the Health Summit 2026 Indicators</a:t>
            </a:r>
          </a:p>
        </p:txBody>
      </p:sp>
    </p:spTree>
    <p:extLst>
      <p:ext uri="{BB962C8B-B14F-4D97-AF65-F5344CB8AC3E}">
        <p14:creationId xmlns:p14="http://schemas.microsoft.com/office/powerpoint/2010/main" val="28584667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2</a:t>
            </a:r>
            <a:r>
              <a:rPr lang="en-US" sz="66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ND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</a:t>
            </a:r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467" y="2157020"/>
            <a:ext cx="117348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OF PANABO</a:t>
            </a:r>
          </a:p>
          <a:p>
            <a:pPr algn="ctr"/>
            <a:endParaRPr lang="en-US" sz="1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DAVAO DEL NORTE HEALTH INFORMATION AND MANAGEMENT SYSTEM (DHIMS)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FAMILY PLANNING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RABIES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NON COMMUNICABLE DISEASE (NCD)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DISASTER RISK REDUCTION AND MANAGEMENT IN HEALTH (DRRM H)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ADOLESCENT HEALTH AND YOUTH DEVELOPMENT (AHYDP)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POPULATION MANAGEMENT SERVICES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WOMEN'S HEALTH CARE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2nd Highest Donation Rate of 1.92% with a total of 4,060 Blood Donations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22630976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OF TAGUM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90.93% of the Health Summit 2026 Indicators</a:t>
            </a:r>
          </a:p>
        </p:txBody>
      </p:sp>
    </p:spTree>
    <p:extLst>
      <p:ext uri="{BB962C8B-B14F-4D97-AF65-F5344CB8AC3E}">
        <p14:creationId xmlns:p14="http://schemas.microsoft.com/office/powerpoint/2010/main" val="261680487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3152" y="1263176"/>
            <a:ext cx="929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466" y="2157020"/>
            <a:ext cx="11904133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OF TAGUM</a:t>
            </a:r>
          </a:p>
          <a:p>
            <a:pPr algn="ctr"/>
            <a:endParaRPr lang="en-US" sz="1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LOCAL HEALTH BOARD AND INTER LOCAL HEALTH ZONE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THE OPERATIONS OF BARANGAY HEALTH WORKER (BHW) PROGRAM</a:t>
            </a:r>
          </a:p>
          <a:p>
            <a:pPr algn="ctr"/>
            <a:r>
              <a:rPr lang="en-US" sz="1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THE DAVAO DEL NORTE ELECTRONIC HEALTH REFERRAL SYSTEM (DEHEARS)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THE EXCLUSIVE BREASTFEEDING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THE INTEGRATED MANAGEMENT OF CHILDHOOD ILLNESS (IMCI)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STI/HIV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CITY IN EPIDEMIOLOGY AND SURVEILLANCE SYSTEM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NATIONAL IMMUNIZATION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DENTAL HEALTH CARE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TB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Highest Donation Rate of 2.96% with a total of 8,877 Blood Donations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335271438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866" y="1618776"/>
            <a:ext cx="1054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CITY HEALTH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ARNEL R. FLORENDO</a:t>
            </a:r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Health Officer of Tagum</a:t>
            </a:r>
          </a:p>
        </p:txBody>
      </p:sp>
    </p:spTree>
    <p:extLst>
      <p:ext uri="{BB962C8B-B14F-4D97-AF65-F5344CB8AC3E}">
        <p14:creationId xmlns:p14="http://schemas.microsoft.com/office/powerpoint/2010/main" val="22179710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2068" y="1525643"/>
            <a:ext cx="1029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3</a:t>
            </a:r>
            <a:r>
              <a:rPr lang="en-US" sz="44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RD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 TOP 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65" y="2157020"/>
            <a:ext cx="1087966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STO. TOMAS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76.49% of the Health Summit 2026 Indicators</a:t>
            </a:r>
          </a:p>
          <a:p>
            <a:pPr algn="ctr"/>
            <a:endParaRPr lang="en-US" sz="1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STI/HIV PREVENTION AND CONTROL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ADOLESCENT HEALTH AND YOUTH DEVELOPMENT (AHYDP)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ENVIRONMENTAL, OCCUPATIONAL HEALTH AND SANITATION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Donation Rate of 0.96% with a total of 1,257 Blood Donations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287489580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2068" y="1525643"/>
            <a:ext cx="1029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2</a:t>
            </a:r>
            <a:r>
              <a:rPr lang="en-US" sz="4400" b="1" baseline="30000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ND </a:t>
            </a:r>
            <a:r>
              <a:rPr lang="en-US" sz="4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333" y="2173953"/>
            <a:ext cx="1131146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B.E. DUJALI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80.48% of the Health Summit 2026 Indicators</a:t>
            </a:r>
          </a:p>
          <a:p>
            <a:pPr algn="ctr"/>
            <a:endParaRPr lang="en-US" sz="1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MALE REPRODUCTIVE HEALTH CARE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POPULATION MANAGEMENT SERVICES PROGRAM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Donation Rate of 1.04% with a total of 373 Blood Donations</a:t>
            </a:r>
          </a:p>
          <a:p>
            <a:pPr algn="ctr"/>
            <a:r>
              <a:rPr lang="en-US" sz="2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24133399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2068" y="1525643"/>
            <a:ext cx="10295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333" y="2173953"/>
            <a:ext cx="113114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82.40% of the Health Summit 2026 Indicators</a:t>
            </a:r>
          </a:p>
          <a:p>
            <a:pPr algn="ctr"/>
            <a:endParaRPr lang="en-US" sz="1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22197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2068" y="1525643"/>
            <a:ext cx="10295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173953"/>
            <a:ext cx="121920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MUNICIPALITY OF NEW CORELLA</a:t>
            </a:r>
          </a:p>
          <a:p>
            <a:pPr algn="ctr"/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LOCAL HEALTH BOARD AND INTER LOCAL HEALTH ZONE PROGRAM</a:t>
            </a:r>
          </a:p>
          <a:p>
            <a:pPr algn="ctr"/>
            <a:r>
              <a:rPr lang="en-US" sz="1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DAVAO DEL NORTE HEALTH INFORMATION AND MANAGEMENT SYSTEM (DHIMS)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THE EXCLUSIVE BREASTFEEDING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RABIES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TOBACCO PREVENTION AND CONTROL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HEALTH EDUCATION AND PROMOTION PROGRAM</a:t>
            </a:r>
          </a:p>
          <a:p>
            <a:pPr algn="ctr"/>
            <a:r>
              <a:rPr lang="en-US" sz="1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PERFORMING MUNICIPALITY IN DISASTER RISK REDUCTION AND MANAGEMENT IN HEALTH (DRRM H)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INTEGRATED MANAGEMENT OF CHILDHOOD ILLNESS (IMCI)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WOMEN'S HEALTH CARE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AWARD IN NATIONAL IMMUNIZATION PROGRAM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2nd Highest Donation Rate of 1.62% with a total of 980 Blood Donations</a:t>
            </a:r>
          </a:p>
          <a:p>
            <a:pPr algn="ctr"/>
            <a:r>
              <a:rPr lang="en-US" sz="16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Harmonized Health Awardee 2025</a:t>
            </a:r>
          </a:p>
        </p:txBody>
      </p:sp>
    </p:spTree>
    <p:extLst>
      <p:ext uri="{BB962C8B-B14F-4D97-AF65-F5344CB8AC3E}">
        <p14:creationId xmlns:p14="http://schemas.microsoft.com/office/powerpoint/2010/main" val="227068575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368" y="1932043"/>
            <a:ext cx="1156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Raleway Black" pitchFamily="2" charset="0"/>
              </a:rPr>
              <a:t>TOP PERFORMING MUNICIPAL HEALTH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166" y="2538020"/>
            <a:ext cx="10879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NANCY O. CACAYORIN</a:t>
            </a:r>
            <a:endParaRPr lang="en-US" sz="1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Municipal Health Officer of Carmen</a:t>
            </a:r>
          </a:p>
        </p:txBody>
      </p:sp>
    </p:spTree>
    <p:extLst>
      <p:ext uri="{BB962C8B-B14F-4D97-AF65-F5344CB8AC3E}">
        <p14:creationId xmlns:p14="http://schemas.microsoft.com/office/powerpoint/2010/main" val="55321874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166" y="2538020"/>
            <a:ext cx="10879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SUMMIT 2026</a:t>
            </a:r>
          </a:p>
          <a:p>
            <a:pPr algn="ctr"/>
            <a:r>
              <a:rPr lang="en-US" sz="4800" b="1" dirty="0" smtClean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US" sz="3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5774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3" y="206397"/>
            <a:ext cx="11627926" cy="6475758"/>
          </a:xfrm>
          <a:prstGeom prst="rect">
            <a:avLst/>
          </a:prstGeom>
          <a:ln w="28575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96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8" y="104759"/>
            <a:ext cx="11963487" cy="664773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9171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976</Words>
  <Application>Microsoft Office PowerPoint</Application>
  <PresentationFormat>Widescreen</PresentationFormat>
  <Paragraphs>174</Paragraphs>
  <Slides>32</Slides>
  <Notes>0</Notes>
  <HiddenSlides>0</HiddenSlides>
  <MMClips>30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Raleway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2026-10-21T06:14:32Z</dcterms:created>
  <dcterms:modified xsi:type="dcterms:W3CDTF">2026-10-22T03:24:47Z</dcterms:modified>
</cp:coreProperties>
</file>